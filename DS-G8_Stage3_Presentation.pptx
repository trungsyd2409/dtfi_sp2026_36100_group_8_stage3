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Quang Trung)" id="{8f07ca77-9f67-8b8f-c285-08e0a6ec9dfe}">
          <p14:sldIdLst>
            <p14:sldId id="256"/>
            <p14:sldId id="257"/>
            <p14:sldId id="258"/>
          </p14:sldIdLst>
        </p14:section>
        <p14:section name="Shared design (Ngoc An)" id="{bae2faf1-24ba-898c-cf36-59159f897cd6}">
          <p14:sldIdLst>
            <p14:sldId id="259"/>
            <p14:sldId id="260"/>
          </p14:sldIdLst>
        </p14:section>
        <p14:section name="Ngoc An: academic history" id="{466792b5-8ebb-5783-0870-43a284492b6f}">
          <p14:sldIdLst>
            <p14:sldId id="261"/>
            <p14:sldId id="262"/>
          </p14:sldIdLst>
        </p14:section>
        <p14:section name="Quang Trung: study behaviour" id="{73b8a02f-5e8e-b8a9-279e-e71d7bd8d493}">
          <p14:sldIdLst>
            <p14:sldId id="263"/>
            <p14:sldId id="264"/>
          </p14:sldIdLst>
        </p14:section>
        <p14:section name="Akil: demographics and conclusion" id="{46b9bd14-de27-b71e-0b6d-d453235f3a07}">
          <p14:sldIdLst>
            <p14:sldId id="265"/>
            <p14:sldId id="266"/>
            <p14:sldId id="267"/>
            <p14:sldId id="268"/>
            <p14:sldId id="269"/>
          </p14:sldIdLst>
        </p14:section>
        <p14:section name="Appendix" id="{4373b2de-f546-c131-1c75-ebb7d4766918}">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0"/>
                </a:solidFill>
                <a:latin typeface="+mn-lt"/>
              </a:defRPr>
            </a:pPr>
            <a:r>
              <a:rPr sz="1400" b="0" i="0" u="none" strike="noStrike">
                <a:solidFill>
                  <a:srgbClr val="1F2A30"/>
                </a:solidFill>
                <a:latin typeface="+mn-lt"/>
              </a:rPr>
              <a:t>Test R² (79 test students)</a:t>
            </a:r>
          </a:p>
        </c:rich>
      </c:tx>
      <c:layout/>
      <c:overlay val="0"/>
    </c:title>
    <c:autoTitleDeleted val="0"/>
    <c:plotArea>
      <c:layout/>
      <c:barChart>
        <c:barDir val="col"/>
        <c:grouping val="clustered"/>
        <c:varyColors val="0"/>
        <c:ser>
          <c:idx val="0"/>
          <c:order val="0"/>
          <c:tx>
            <c:strRef>
              <c:f>Sheet1!$B$1</c:f>
              <c:strCache>
                <c:ptCount val="1"/>
                <c:pt idx="0">
                  <c:v>Linear regression</c:v>
                </c:pt>
              </c:strCache>
            </c:strRef>
          </c:tx>
          <c:spPr>
            <a:solidFill>
              <a:srgbClr val="1B7F79"/>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A: with G1, G2</c:v>
                  </c:pt>
                  <c:pt idx="1">
                    <c:v>B: without G1, G2</c:v>
                  </c:pt>
                </c:lvl>
              </c:multiLvlStrCache>
            </c:multiLvlStrRef>
          </c:cat>
          <c:val>
            <c:numRef>
              <c:f>Sheet1!$B$2:$B$3</c:f>
              <c:numCache>
                <c:formatCode>General</c:formatCode>
                <c:ptCount val="2"/>
                <c:pt idx="0">
                  <c:v>0.724</c:v>
                </c:pt>
                <c:pt idx="1">
                  <c:v>0.141</c:v>
                </c:pt>
              </c:numCache>
            </c:numRef>
          </c:val>
        </c:ser>
        <c:ser>
          <c:idx val="1"/>
          <c:order val="1"/>
          <c:tx>
            <c:strRef>
              <c:f>Sheet1!$C$1</c:f>
              <c:strCache>
                <c:ptCount val="1"/>
                <c:pt idx="0">
                  <c:v>Decision tree</c:v>
                </c:pt>
              </c:strCache>
            </c:strRef>
          </c:tx>
          <c:spPr>
            <a:solidFill>
              <a:srgbClr val="E09F3E"/>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A: with G1, G2</c:v>
                  </c:pt>
                  <c:pt idx="1">
                    <c:v>B: without G1, G2</c:v>
                  </c:pt>
                </c:lvl>
              </c:multiLvlStrCache>
            </c:multiLvlStrRef>
          </c:cat>
          <c:val>
            <c:numRef>
              <c:f>Sheet1!$C$2:$C$3</c:f>
              <c:numCache>
                <c:formatCode>General</c:formatCode>
                <c:ptCount val="2"/>
                <c:pt idx="0">
                  <c:v>0.704</c:v>
                </c:pt>
                <c:pt idx="1">
                  <c:v>0.058</c:v>
                </c:pt>
              </c:numCache>
            </c:numRef>
          </c:val>
        </c:ser>
        <c:ser>
          <c:idx val="2"/>
          <c:order val="2"/>
          <c:tx>
            <c:strRef>
              <c:f>Sheet1!$D$1</c:f>
              <c:strCache>
                <c:ptCount val="1"/>
                <c:pt idx="0">
                  <c:v>Random forest</c:v>
                </c:pt>
              </c:strCache>
            </c:strRef>
          </c:tx>
          <c:spPr>
            <a:solidFill>
              <a:srgbClr val="4F4C9A"/>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A: with G1, G2</c:v>
                  </c:pt>
                  <c:pt idx="1">
                    <c:v>B: without G1, G2</c:v>
                  </c:pt>
                </c:lvl>
              </c:multiLvlStrCache>
            </c:multiLvlStrRef>
          </c:cat>
          <c:val>
            <c:numRef>
              <c:f>Sheet1!$D$2:$D$3</c:f>
              <c:numCache>
                <c:formatCode>General</c:formatCode>
                <c:ptCount val="2"/>
                <c:pt idx="0">
                  <c:v>0.829</c:v>
                </c:pt>
                <c:pt idx="1">
                  <c:v>0.242</c:v>
                </c:pt>
              </c:numCache>
            </c:numRef>
          </c:val>
        </c:ser>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4D3"/>
            </a:solidFill>
            <a:prstDash val="solid"/>
            <a:round/>
          </a:ln>
        </c:spPr>
        <c:txPr>
          <a:bodyPr/>
          <a:lstStyle/>
          <a:p>
            <a:pPr>
              <a:defRPr sz="1300" b="0" i="0" u="none" strike="noStrike">
                <a:solidFill>
                  <a:srgbClr val="1F2A3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5E4"/>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D6D73"/>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1F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0"/>
                </a:solidFill>
                <a:latin typeface="+mn-lt"/>
              </a:defRPr>
            </a:pPr>
            <a:r>
              <a:rPr sz="1400" b="0" i="0" u="none" strike="noStrike">
                <a:solidFill>
                  <a:srgbClr val="1F2A30"/>
                </a:solidFill>
                <a:latin typeface="+mn-lt"/>
              </a:rPr>
              <a:t>Test R² (200 test students)</a:t>
            </a:r>
          </a:p>
        </c:rich>
      </c:tx>
      <c:layout/>
      <c:overlay val="0"/>
    </c:title>
    <c:autoTitleDeleted val="0"/>
    <c:plotArea>
      <c:layout/>
      <c:barChart>
        <c:barDir val="col"/>
        <c:grouping val="clustered"/>
        <c:varyColors val="0"/>
        <c:ser>
          <c:idx val="0"/>
          <c:order val="0"/>
          <c:tx>
            <c:strRef>
              <c:f>Sheet1!$B$1</c:f>
              <c:strCache>
                <c:ptCount val="1"/>
                <c:pt idx="0">
                  <c:v>Linear regression</c:v>
                </c:pt>
              </c:strCache>
            </c:strRef>
          </c:tx>
          <c:spPr>
            <a:solidFill>
              <a:srgbClr val="1B7F79"/>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A: behaviour only</c:v>
                  </c:pt>
                  <c:pt idx="1">
                    <c:v>B: + previous grade</c:v>
                  </c:pt>
                </c:lvl>
              </c:multiLvlStrCache>
            </c:multiLvlStrRef>
          </c:cat>
          <c:val>
            <c:numRef>
              <c:f>Sheet1!$B$2:$B$3</c:f>
              <c:numCache>
                <c:formatCode>General</c:formatCode>
                <c:ptCount val="2"/>
                <c:pt idx="0">
                  <c:v>0.386</c:v>
                </c:pt>
                <c:pt idx="1">
                  <c:v>0.619</c:v>
                </c:pt>
              </c:numCache>
            </c:numRef>
          </c:val>
        </c:ser>
        <c:ser>
          <c:idx val="1"/>
          <c:order val="1"/>
          <c:tx>
            <c:strRef>
              <c:f>Sheet1!$C$1</c:f>
              <c:strCache>
                <c:ptCount val="1"/>
                <c:pt idx="0">
                  <c:v>Decision tree</c:v>
                </c:pt>
              </c:strCache>
            </c:strRef>
          </c:tx>
          <c:spPr>
            <a:solidFill>
              <a:srgbClr val="E09F3E"/>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A: behaviour only</c:v>
                  </c:pt>
                  <c:pt idx="1">
                    <c:v>B: + previous grade</c:v>
                  </c:pt>
                </c:lvl>
              </c:multiLvlStrCache>
            </c:multiLvlStrRef>
          </c:cat>
          <c:val>
            <c:numRef>
              <c:f>Sheet1!$C$2:$C$3</c:f>
              <c:numCache>
                <c:formatCode>General</c:formatCode>
                <c:ptCount val="2"/>
                <c:pt idx="0">
                  <c:v>0.269</c:v>
                </c:pt>
                <c:pt idx="1">
                  <c:v>0.492</c:v>
                </c:pt>
              </c:numCache>
            </c:numRef>
          </c:val>
        </c:ser>
        <c:ser>
          <c:idx val="2"/>
          <c:order val="2"/>
          <c:tx>
            <c:strRef>
              <c:f>Sheet1!$D$1</c:f>
              <c:strCache>
                <c:ptCount val="1"/>
                <c:pt idx="0">
                  <c:v>Random forest</c:v>
                </c:pt>
              </c:strCache>
            </c:strRef>
          </c:tx>
          <c:spPr>
            <a:solidFill>
              <a:srgbClr val="4F4C9A"/>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A: behaviour only</c:v>
                  </c:pt>
                  <c:pt idx="1">
                    <c:v>B: + previous grade</c:v>
                  </c:pt>
                </c:lvl>
              </c:multiLvlStrCache>
            </c:multiLvlStrRef>
          </c:cat>
          <c:val>
            <c:numRef>
              <c:f>Sheet1!$D$2:$D$3</c:f>
              <c:numCache>
                <c:formatCode>General</c:formatCode>
                <c:ptCount val="2"/>
                <c:pt idx="0">
                  <c:v>0.338</c:v>
                </c:pt>
                <c:pt idx="1">
                  <c:v>0.585</c:v>
                </c:pt>
              </c:numCache>
            </c:numRef>
          </c:val>
        </c:ser>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4D3"/>
            </a:solidFill>
            <a:prstDash val="solid"/>
            <a:round/>
          </a:ln>
        </c:spPr>
        <c:txPr>
          <a:bodyPr/>
          <a:lstStyle/>
          <a:p>
            <a:pPr>
              <a:defRPr sz="1300" b="0" i="0" u="none" strike="noStrike">
                <a:solidFill>
                  <a:srgbClr val="1F2A3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5E4"/>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D6D73"/>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1F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0"/>
                </a:solidFill>
                <a:latin typeface="+mn-lt"/>
              </a:defRPr>
            </a:pPr>
            <a:r>
              <a:rPr sz="1400" b="0" i="0" u="none" strike="noStrike">
                <a:solidFill>
                  <a:srgbClr val="1F2A30"/>
                </a:solidFill>
                <a:latin typeface="+mn-lt"/>
              </a:rPr>
              <a:t>R² on the composite score</a:t>
            </a:r>
          </a:p>
        </c:rich>
      </c:tx>
      <c:layout/>
      <c:overlay val="0"/>
    </c:title>
    <c:autoTitleDeleted val="0"/>
    <c:plotArea>
      <c:layout/>
      <c:barChart>
        <c:barDir val="col"/>
        <c:grouping val="clustered"/>
        <c:varyColors val="0"/>
        <c:ser>
          <c:idx val="0"/>
          <c:order val="0"/>
          <c:tx>
            <c:strRef>
              <c:f>Sheet1!$B$1</c:f>
              <c:strCache>
                <c:ptCount val="1"/>
                <c:pt idx="0">
                  <c:v>Linear regression</c:v>
                </c:pt>
              </c:strCache>
            </c:strRef>
          </c:tx>
          <c:spPr>
            <a:solidFill>
              <a:srgbClr val="1B7F79"/>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 R²</c:v>
                  </c:pt>
                  <c:pt idx="1">
                    <c:v>5-fold CV R² (mean)</c:v>
                  </c:pt>
                </c:lvl>
              </c:multiLvlStrCache>
            </c:multiLvlStrRef>
          </c:cat>
          <c:val>
            <c:numRef>
              <c:f>Sheet1!$B$2:$B$3</c:f>
              <c:numCache>
                <c:formatCode>General</c:formatCode>
                <c:ptCount val="2"/>
                <c:pt idx="0">
                  <c:v>0.162</c:v>
                </c:pt>
                <c:pt idx="1">
                  <c:v>0.228</c:v>
                </c:pt>
              </c:numCache>
            </c:numRef>
          </c:val>
        </c:ser>
        <c:ser>
          <c:idx val="1"/>
          <c:order val="1"/>
          <c:tx>
            <c:strRef>
              <c:f>Sheet1!$C$1</c:f>
              <c:strCache>
                <c:ptCount val="1"/>
                <c:pt idx="0">
                  <c:v>Decision tree</c:v>
                </c:pt>
              </c:strCache>
            </c:strRef>
          </c:tx>
          <c:spPr>
            <a:solidFill>
              <a:srgbClr val="E09F3E"/>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 R²</c:v>
                  </c:pt>
                  <c:pt idx="1">
                    <c:v>5-fold CV R² (mean)</c:v>
                  </c:pt>
                </c:lvl>
              </c:multiLvlStrCache>
            </c:multiLvlStrRef>
          </c:cat>
          <c:val>
            <c:numRef>
              <c:f>Sheet1!$C$2:$C$3</c:f>
              <c:numCache>
                <c:formatCode>General</c:formatCode>
                <c:ptCount val="2"/>
                <c:pt idx="0">
                  <c:v>0.068</c:v>
                </c:pt>
                <c:pt idx="1">
                  <c:v>0.157</c:v>
                </c:pt>
              </c:numCache>
            </c:numRef>
          </c:val>
        </c:ser>
        <c:ser>
          <c:idx val="2"/>
          <c:order val="2"/>
          <c:tx>
            <c:strRef>
              <c:f>Sheet1!$D$1</c:f>
              <c:strCache>
                <c:ptCount val="1"/>
                <c:pt idx="0">
                  <c:v>Random forest</c:v>
                </c:pt>
              </c:strCache>
            </c:strRef>
          </c:tx>
          <c:spPr>
            <a:solidFill>
              <a:srgbClr val="4F4C9A"/>
            </a:solidFill>
            <a:effectLst/>
          </c:spPr>
          <c:invertIfNegative val="0"/>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Test R²</c:v>
                  </c:pt>
                  <c:pt idx="1">
                    <c:v>5-fold CV R² (mean)</c:v>
                  </c:pt>
                </c:lvl>
              </c:multiLvlStrCache>
            </c:multiLvlStrRef>
          </c:cat>
          <c:val>
            <c:numRef>
              <c:f>Sheet1!$D$2:$D$3</c:f>
              <c:numCache>
                <c:formatCode>General</c:formatCode>
                <c:ptCount val="2"/>
                <c:pt idx="0">
                  <c:v>0.118</c:v>
                </c:pt>
                <c:pt idx="1">
                  <c:v>0.194</c:v>
                </c:pt>
              </c:numCache>
            </c:numRef>
          </c:val>
        </c:ser>
        <c:dLbls>
          <c:numFmt formatCode="0.000"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4D3"/>
            </a:solidFill>
            <a:prstDash val="solid"/>
            <a:round/>
          </a:ln>
        </c:spPr>
        <c:txPr>
          <a:bodyPr/>
          <a:lstStyle/>
          <a:p>
            <a:pPr>
              <a:defRPr sz="1300" b="0" i="0" u="none" strike="noStrike">
                <a:solidFill>
                  <a:srgbClr val="1F2A3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5E4"/>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D6D73"/>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1F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Quang Trung Nguyen (about 0:16)
Hello, we are Group 8. I am Quang Trung Nguyen, and my teammates are Ngoc An Nguyen and Akil Venkateshkumar. Our project predicts student exam performance with three models on three different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Quang Trung Nguyen (about 0:35)
Schools often find struggling students too late, after the final grade is in. Our Stage 1 reading showed that performance depends on earlier grades, study behaviour and family background. One study we reviewed found that earlier results explain 76.6% of the variance in success. No model wins in every setting, so in Stage 2 we tested which model predicts the final score best, and whether that changes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Quang Trung Nguyen (about 0:42)
Each of us brought one dataset with a different type of predictor. Ngoc An's has 395 students with earlier grades, and in Stage 1 she found that G2 and the final grade correlate at 0.905. Mine has 1,000 students and their study habits, and study time had the strongest link with the exam score, at r equal to 0.57. Akil's has 1,000 students with demographic data only, where a standard lunch meant 8.6 points more. Ngoc An will now explain our Stage 2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Ngoc An Nguyen (about 0:42)
Thank you, Trung. We based our model choice on the literature. Namoun and Alshanqiti reviewed 62 studies and found regression in about half of them. Cortez and Silva found random forest best in 8 cases, against 4 for the decision tree. But Sonkhanani and colleagues found linear regression best when earlier grades were available. With no single winner, we chose three models: linear regression as a transparent baseline, a decision tree for readable rules, and a random forest to test whether averaging many trees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Ngoc An Nguyen (about 0:42)
We asked which model predicts best on each dataset, and whether the ranking changes with the type of data. Our main hypothesis was that random forest would win on most datasets. All three of us used one protocol: an 80/20 split, 5-fold cross-validation on the training set to tune the trees, and one final run on the test set. Encoding and scaling sit inside a pipeline, so nothing leaks from the test set. A gap smaller than one cross-validation standard deviation counts as a 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Ngoc An Nguyen (about 0:42)
Now my own work. I used the UCI dataset, with 395 students and 33 variables, and the final maths grade G3, from 0 to 20, as the target. There were no missing values or duplicates, so I kept every record. My key decision was to run two scenarios: A with the earlier grades G1 and G2, and B without them. Scenario B is closer to a real early warning. Both use the same 316 training and 79 test students,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Ngoc An Nguyen (about 0:44)
Random forest was my best model in both scenarios. With G1 and G2, it reached a test R² of 0.829, with an average error of about 1.1 points out of 20. Without them, R² fell to 0.242, and linear regression even had a negative cross-validated R². Feature importance explains this. In scenario A, G2 dominates. In scenario B, past failures and absences lead, but they carry much less signal. So random forest works well on my data, mainly when earlier grades are available. Trung will now present his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Quang Trung Nguyen (about 0:46)
I worked on the study habits dataset in both stages. The target is the final exam score, with a mean of 83.5. I made three main decisions. I dropped final_grade, because it is a letter band computed from the score and would leak the target. I set keep_default_na to False, because pandas reads the category None as missing. And I tested two new features, but neither passed my one standard deviation rule, so I kept the raw features. Like Ngoc An, I ran two scenarios: behaviour only, and with the previous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Quang Trung Nguyen (about 0:45)
Linear regression won in both scenarios. With behaviour only, the test R² is 0.386, and adding the previous grade lifts it to 0.619. The lead over random forest is small, so I repeated the split 20 times. Linear regression was best in 19 of 20 splits for scenario A and in all 20 for scenario B. The forest overfits, with a training R² of 0.84 but a test R² of 0.34. The effects look close to additive: one standard deviation of study hours adds about 6 points. Akil will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Akil Venkateshkumar (about 0:40)
Thanks, Trung. My dataset has 1,000 students and five categorical predictors: gender, ethnicity group, parental education, lunch type and test preparation. The target is the mean of the maths, reading and writing scores. I removed the three subject scores from the predictors, because they would reveal the target, and I one-hot encoded the five features inside the pipeline. Tuning chose a shallow tree of depth 3 and a forest of depth 5, which fits a dataset with so few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Akil Venkateshkumar (about 0:44)
All three models explain only a small part of the variance. Linear regression is best, with a test R² of 0.162. Random forest is within one standard deviation in cross-validation, so it is a tie under our rule. The decision tree is weakest at 0.068. The average error is still about 10.5 points. Lunch type and test preparation drive the predictions: a standard lunch adds 4.6 points and a completed preparation course adds 3.9. These factors show group differences, but they cannot predict one student's score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Akil Venkateshkumar (about 0:36)
This table puts the four group settings side by side. Random forest wins both of Ngoc An's settings. Linear regression wins on Trung's dataset and on mine. The decision tree is last in every setting. On mean rank, random forest and linear regression tie at 1.5. The data matter more than the model: earlier grades lift R² from 0.24 to 0.83 in Ngoc An's data, and from 0.39 to 0.62 in Trung's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Akil Venkateshkumar (about 0:25)
Now our hypotheses. H1 is not supported, because random forest wins only two of the four settings. H2 is not supported either: with G1 and G2, linear regression sits more than two standard deviations below the forest. H3 is partly supported, because both settings without earlier grades are the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Akil Venkateshkumar (about 0:34)
Our recommendation is to start with linear regression. It is simple, easy to explain and best on both 1,000-student datasets. Use random forest when the data has many mixed features, like Ngoc An's 33 variables. Keep the decision tree for explaining rules to teachers. Our main limits are one test split per dataset and two Kaggle datasets, one synthetic and one with an undocumented source.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markers. Not presented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markers. Not presented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markers. Not presented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markers. Not presented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91640"/>
            <a:ext cx="11094415"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743200"/>
            <a:ext cx="11094415" cy="5486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Group 8  ·  36100 Data Science for Innovation  ·  Spring 2026</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Group 8  ·  36100 Data Science for Innovation  ·  Spring 2026</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PPENDIX">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486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Appendix (backup, not presented)  ·  Group 8</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43000"/>
            <a:ext cx="11094415" cy="365760"/>
          </a:xfrm>
          <a:prstGeom prst="rect">
            <a:avLst/>
          </a:prstGeom>
          <a:noFill/>
          <a:ln/>
        </p:spPr>
        <p:txBody>
          <a:bodyPr wrap="square" lIns="0" tIns="0" rIns="0" bIns="0" rtlCol="0" anchor="ctr"/>
          <a:lstStyle/>
          <a:p>
            <a:pPr indent="0" marL="0">
              <a:buNone/>
            </a:pPr>
            <a:r>
              <a:rPr lang="en-US" sz="1400" dirty="0">
                <a:solidFill>
                  <a:srgbClr val="A9CFCB"/>
                </a:solidFill>
              </a:rPr>
              <a:t>36100 Data Science for Innovation  ·  Group 8  ·  Stage 3 presentation</a:t>
            </a:r>
            <a:endParaRPr lang="en-US" sz="1400" dirty="0"/>
          </a:p>
        </p:txBody>
      </p:sp>
      <p:sp>
        <p:nvSpPr>
          <p:cNvPr id="3" name="Text 0"/>
          <p:cNvSpPr/>
          <p:nvPr>
            <p:ph idx="100" type="title" hasCustomPrompt="1"/>
          </p:nvPr>
        </p:nvSpPr>
        <p:spPr>
          <a:xfrm>
            <a:off x="548640" y="1691640"/>
            <a:ext cx="11094415" cy="1005840"/>
          </a:xfrm>
          <a:prstGeom prst="rect">
            <a:avLst/>
          </a:prstGeom>
          <a:noFill/>
          <a:ln/>
        </p:spPr>
        <p:txBody>
          <a:bodyPr wrap="square" lIns="0" tIns="0" rIns="0" bIns="0" rtlCol="0" anchor="t"/>
          <a:lstStyle/>
          <a:p>
            <a:pPr algn="l" indent="0" marL="0">
              <a:buNone/>
            </a:pPr>
            <a:r>
              <a:rPr lang="en-US" sz="4800" b="1" dirty="0">
                <a:solidFill>
                  <a:schemeClr val="bg1"/>
                </a:solidFill>
              </a:rPr>
              <a:t>Predicting student performance</a:t>
            </a:r>
            <a:endParaRPr lang="en-US" sz="4800" dirty="0"/>
          </a:p>
        </p:txBody>
      </p:sp>
      <p:sp>
        <p:nvSpPr>
          <p:cNvPr id="4" name="Text 0"/>
          <p:cNvSpPr/>
          <p:nvPr>
            <p:ph idx="101" type="body" hasCustomPrompt="1"/>
          </p:nvPr>
        </p:nvSpPr>
        <p:spPr>
          <a:xfrm>
            <a:off x="548640" y="2743200"/>
            <a:ext cx="11094415" cy="548640"/>
          </a:xfrm>
          <a:prstGeom prst="rect">
            <a:avLst/>
          </a:prstGeom>
          <a:noFill/>
          <a:ln/>
        </p:spPr>
        <p:txBody>
          <a:bodyPr wrap="square" lIns="0" tIns="0" rIns="0" bIns="0" rtlCol="0" anchor="t"/>
          <a:lstStyle/>
          <a:p>
            <a:pPr algn="l" indent="0" marL="0">
              <a:buNone/>
            </a:pPr>
            <a:r>
              <a:rPr lang="en-US" sz="2200" dirty="0">
                <a:solidFill>
                  <a:schemeClr val="bg2"/>
                </a:solidFill>
              </a:rPr>
              <a:t>Three datasets, three models, one shared protocol</a:t>
            </a:r>
            <a:endParaRPr lang="en-US" sz="2200" dirty="0"/>
          </a:p>
        </p:txBody>
      </p:sp>
      <p:sp>
        <p:nvSpPr>
          <p:cNvPr id="5" name="Member card"/>
          <p:cNvSpPr/>
          <p:nvPr/>
        </p:nvSpPr>
        <p:spPr>
          <a:xfrm>
            <a:off x="548640" y="4069080"/>
            <a:ext cx="3502152" cy="1783080"/>
          </a:xfrm>
          <a:prstGeom prst="roundRect">
            <a:avLst>
              <a:gd name="adj" fmla="val 4103"/>
            </a:avLst>
          </a:prstGeom>
          <a:solidFill>
            <a:srgbClr val="1C4650"/>
          </a:solidFill>
          <a:ln/>
        </p:spPr>
      </p:sp>
      <p:sp>
        <p:nvSpPr>
          <p:cNvPr id="6" name="Shape 4"/>
          <p:cNvSpPr/>
          <p:nvPr/>
        </p:nvSpPr>
        <p:spPr>
          <a:xfrm>
            <a:off x="777240" y="4325112"/>
            <a:ext cx="566928" cy="566928"/>
          </a:xfrm>
          <a:prstGeom prst="ellipse">
            <a:avLst/>
          </a:prstGeom>
          <a:solidFill>
            <a:srgbClr val="1B7F79"/>
          </a:solidFill>
          <a:ln/>
        </p:spPr>
      </p:sp>
      <p:pic>
        <p:nvPicPr>
          <p:cNvPr id="7" name="Image 0" descr="preencoded.png">    </p:cNvPr>
          <p:cNvPicPr>
            <a:picLocks noChangeAspect="1"/>
          </p:cNvPicPr>
          <p:nvPr/>
        </p:nvPicPr>
        <p:blipFill>
          <a:blip r:embed="rId1"/>
          <a:stretch>
            <a:fillRect/>
          </a:stretch>
        </p:blipFill>
        <p:spPr>
          <a:xfrm>
            <a:off x="913303" y="4461175"/>
            <a:ext cx="294803" cy="294803"/>
          </a:xfrm>
          <a:prstGeom prst="rect">
            <a:avLst/>
          </a:prstGeom>
        </p:spPr>
      </p:pic>
      <p:sp>
        <p:nvSpPr>
          <p:cNvPr id="8" name="Text 5"/>
          <p:cNvSpPr txBox="1"/>
          <p:nvPr/>
        </p:nvSpPr>
        <p:spPr>
          <a:xfrm>
            <a:off x="1508760" y="4297680"/>
            <a:ext cx="2423160" cy="365760"/>
          </a:xfrm>
          <a:prstGeom prst="rect">
            <a:avLst/>
          </a:prstGeom>
          <a:noFill/>
          <a:ln/>
        </p:spPr>
        <p:txBody>
          <a:bodyPr wrap="square" lIns="0" tIns="0" rIns="0" bIns="0" rtlCol="0" anchor="ctr"/>
          <a:lstStyle/>
          <a:p>
            <a:pPr indent="0" marL="0">
              <a:buNone/>
            </a:pPr>
            <a:r>
              <a:rPr lang="en-US" sz="1700" b="1" dirty="0">
                <a:solidFill>
                  <a:schemeClr val="bg1"/>
                </a:solidFill>
              </a:rPr>
              <a:t>Ngoc An Nguyen</a:t>
            </a:r>
            <a:endParaRPr lang="en-US" sz="1700" dirty="0"/>
          </a:p>
        </p:txBody>
      </p:sp>
      <p:sp>
        <p:nvSpPr>
          <p:cNvPr id="9" name="Text 6"/>
          <p:cNvSpPr txBox="1"/>
          <p:nvPr/>
        </p:nvSpPr>
        <p:spPr>
          <a:xfrm>
            <a:off x="1508760" y="4663440"/>
            <a:ext cx="2423160" cy="274320"/>
          </a:xfrm>
          <a:prstGeom prst="rect">
            <a:avLst/>
          </a:prstGeom>
          <a:noFill/>
          <a:ln/>
        </p:spPr>
        <p:txBody>
          <a:bodyPr wrap="square" lIns="0" tIns="0" rIns="0" bIns="0" rtlCol="0" anchor="ctr"/>
          <a:lstStyle/>
          <a:p>
            <a:pPr indent="0" marL="0">
              <a:buNone/>
            </a:pPr>
            <a:r>
              <a:rPr lang="en-US" sz="1200" dirty="0">
                <a:solidFill>
                  <a:srgbClr val="A9CFCB"/>
                </a:solidFill>
              </a:rPr>
              <a:t>ID 26507564</a:t>
            </a:r>
            <a:endParaRPr lang="en-US" sz="1200" dirty="0"/>
          </a:p>
        </p:txBody>
      </p:sp>
      <p:sp>
        <p:nvSpPr>
          <p:cNvPr id="10" name="Text 7"/>
          <p:cNvSpPr txBox="1"/>
          <p:nvPr/>
        </p:nvSpPr>
        <p:spPr>
          <a:xfrm>
            <a:off x="777240" y="5074920"/>
            <a:ext cx="3108960" cy="640080"/>
          </a:xfrm>
          <a:prstGeom prst="rect">
            <a:avLst/>
          </a:prstGeom>
          <a:noFill/>
          <a:ln/>
        </p:spPr>
        <p:txBody>
          <a:bodyPr wrap="square" lIns="0" tIns="0" rIns="0" bIns="0" rtlCol="0" anchor="t"/>
          <a:lstStyle/>
          <a:p>
            <a:pPr indent="0" marL="0">
              <a:buNone/>
            </a:pPr>
            <a:r>
              <a:rPr lang="en-US" sz="1300" dirty="0">
                <a:solidFill>
                  <a:schemeClr val="bg1"/>
                </a:solidFill>
              </a:rPr>
              <a:t>UCI student performance</a:t>
            </a:r>
            <a:endParaRPr lang="en-US" sz="1300" dirty="0"/>
          </a:p>
          <a:p>
            <a:pPr indent="0" marL="0">
              <a:buNone/>
            </a:pPr>
            <a:r>
              <a:rPr lang="en-US" sz="1300" dirty="0">
                <a:solidFill>
                  <a:srgbClr val="A9CFCB"/>
                </a:solidFill>
              </a:rPr>
              <a:t>395 students, earlier grades</a:t>
            </a:r>
            <a:endParaRPr lang="en-US" sz="1300" dirty="0"/>
          </a:p>
        </p:txBody>
      </p:sp>
      <p:sp>
        <p:nvSpPr>
          <p:cNvPr id="11" name="Member card"/>
          <p:cNvSpPr/>
          <p:nvPr/>
        </p:nvSpPr>
        <p:spPr>
          <a:xfrm>
            <a:off x="4343400" y="4069080"/>
            <a:ext cx="3502152" cy="1783080"/>
          </a:xfrm>
          <a:prstGeom prst="roundRect">
            <a:avLst>
              <a:gd name="adj" fmla="val 4103"/>
            </a:avLst>
          </a:prstGeom>
          <a:solidFill>
            <a:srgbClr val="1C4650"/>
          </a:solidFill>
          <a:ln/>
        </p:spPr>
      </p:sp>
      <p:sp>
        <p:nvSpPr>
          <p:cNvPr id="12" name="Shape 9"/>
          <p:cNvSpPr/>
          <p:nvPr/>
        </p:nvSpPr>
        <p:spPr>
          <a:xfrm>
            <a:off x="4572000" y="4325112"/>
            <a:ext cx="566928" cy="566928"/>
          </a:xfrm>
          <a:prstGeom prst="ellipse">
            <a:avLst/>
          </a:prstGeom>
          <a:solidFill>
            <a:srgbClr val="E09F3E"/>
          </a:solidFill>
          <a:ln/>
        </p:spPr>
      </p:sp>
      <p:pic>
        <p:nvPicPr>
          <p:cNvPr id="13" name="Image 1" descr="preencoded.png">    </p:cNvPr>
          <p:cNvPicPr>
            <a:picLocks noChangeAspect="1"/>
          </p:cNvPicPr>
          <p:nvPr/>
        </p:nvPicPr>
        <p:blipFill>
          <a:blip r:embed="rId2"/>
          <a:stretch>
            <a:fillRect/>
          </a:stretch>
        </p:blipFill>
        <p:spPr>
          <a:xfrm>
            <a:off x="4708063" y="4461175"/>
            <a:ext cx="294803" cy="294803"/>
          </a:xfrm>
          <a:prstGeom prst="rect">
            <a:avLst/>
          </a:prstGeom>
        </p:spPr>
      </p:pic>
      <p:sp>
        <p:nvSpPr>
          <p:cNvPr id="14" name="Text 10"/>
          <p:cNvSpPr txBox="1"/>
          <p:nvPr/>
        </p:nvSpPr>
        <p:spPr>
          <a:xfrm>
            <a:off x="5303520" y="4297680"/>
            <a:ext cx="2423160" cy="365760"/>
          </a:xfrm>
          <a:prstGeom prst="rect">
            <a:avLst/>
          </a:prstGeom>
          <a:noFill/>
          <a:ln/>
        </p:spPr>
        <p:txBody>
          <a:bodyPr wrap="square" lIns="0" tIns="0" rIns="0" bIns="0" rtlCol="0" anchor="ctr"/>
          <a:lstStyle/>
          <a:p>
            <a:pPr indent="0" marL="0">
              <a:buNone/>
            </a:pPr>
            <a:r>
              <a:rPr lang="en-US" sz="1700" b="1" dirty="0">
                <a:solidFill>
                  <a:schemeClr val="bg1"/>
                </a:solidFill>
              </a:rPr>
              <a:t>Quang Trung Nguyen</a:t>
            </a:r>
            <a:endParaRPr lang="en-US" sz="1700" dirty="0"/>
          </a:p>
        </p:txBody>
      </p:sp>
      <p:sp>
        <p:nvSpPr>
          <p:cNvPr id="15" name="Text 11"/>
          <p:cNvSpPr txBox="1"/>
          <p:nvPr/>
        </p:nvSpPr>
        <p:spPr>
          <a:xfrm>
            <a:off x="5303520" y="4663440"/>
            <a:ext cx="2423160" cy="274320"/>
          </a:xfrm>
          <a:prstGeom prst="rect">
            <a:avLst/>
          </a:prstGeom>
          <a:noFill/>
          <a:ln/>
        </p:spPr>
        <p:txBody>
          <a:bodyPr wrap="square" lIns="0" tIns="0" rIns="0" bIns="0" rtlCol="0" anchor="ctr"/>
          <a:lstStyle/>
          <a:p>
            <a:pPr indent="0" marL="0">
              <a:buNone/>
            </a:pPr>
            <a:r>
              <a:rPr lang="en-US" sz="1200" dirty="0">
                <a:solidFill>
                  <a:srgbClr val="A9CFCB"/>
                </a:solidFill>
              </a:rPr>
              <a:t>ID 26643559</a:t>
            </a:r>
            <a:endParaRPr lang="en-US" sz="1200" dirty="0"/>
          </a:p>
        </p:txBody>
      </p:sp>
      <p:sp>
        <p:nvSpPr>
          <p:cNvPr id="16" name="Text 12"/>
          <p:cNvSpPr txBox="1"/>
          <p:nvPr/>
        </p:nvSpPr>
        <p:spPr>
          <a:xfrm>
            <a:off x="4572000" y="5074920"/>
            <a:ext cx="3108960" cy="640080"/>
          </a:xfrm>
          <a:prstGeom prst="rect">
            <a:avLst/>
          </a:prstGeom>
          <a:noFill/>
          <a:ln/>
        </p:spPr>
        <p:txBody>
          <a:bodyPr wrap="square" lIns="0" tIns="0" rIns="0" bIns="0" rtlCol="0" anchor="t"/>
          <a:lstStyle/>
          <a:p>
            <a:pPr indent="0" marL="0">
              <a:buNone/>
            </a:pPr>
            <a:r>
              <a:rPr lang="en-US" sz="1300" dirty="0">
                <a:solidFill>
                  <a:schemeClr val="bg1"/>
                </a:solidFill>
              </a:rPr>
              <a:t>Student study habits (Kaggle)</a:t>
            </a:r>
            <a:endParaRPr lang="en-US" sz="1300" dirty="0"/>
          </a:p>
          <a:p>
            <a:pPr indent="0" marL="0">
              <a:buNone/>
            </a:pPr>
            <a:r>
              <a:rPr lang="en-US" sz="1300" dirty="0">
                <a:solidFill>
                  <a:srgbClr val="A9CFCB"/>
                </a:solidFill>
              </a:rPr>
              <a:t>1,000 students, behaviour</a:t>
            </a:r>
            <a:endParaRPr lang="en-US" sz="1300" dirty="0"/>
          </a:p>
        </p:txBody>
      </p:sp>
      <p:sp>
        <p:nvSpPr>
          <p:cNvPr id="17" name="Member card"/>
          <p:cNvSpPr/>
          <p:nvPr/>
        </p:nvSpPr>
        <p:spPr>
          <a:xfrm>
            <a:off x="8138160" y="4069080"/>
            <a:ext cx="3502152" cy="1783080"/>
          </a:xfrm>
          <a:prstGeom prst="roundRect">
            <a:avLst>
              <a:gd name="adj" fmla="val 4103"/>
            </a:avLst>
          </a:prstGeom>
          <a:solidFill>
            <a:srgbClr val="1C4650"/>
          </a:solidFill>
          <a:ln/>
        </p:spPr>
      </p:sp>
      <p:sp>
        <p:nvSpPr>
          <p:cNvPr id="18" name="Shape 14"/>
          <p:cNvSpPr/>
          <p:nvPr/>
        </p:nvSpPr>
        <p:spPr>
          <a:xfrm>
            <a:off x="8366760" y="4325112"/>
            <a:ext cx="566928" cy="566928"/>
          </a:xfrm>
          <a:prstGeom prst="ellipse">
            <a:avLst/>
          </a:prstGeom>
          <a:solidFill>
            <a:srgbClr val="4F4C9A"/>
          </a:solidFill>
          <a:ln/>
        </p:spPr>
      </p:sp>
      <p:pic>
        <p:nvPicPr>
          <p:cNvPr id="19" name="Image 2" descr="preencoded.png">    </p:cNvPr>
          <p:cNvPicPr>
            <a:picLocks noChangeAspect="1"/>
          </p:cNvPicPr>
          <p:nvPr/>
        </p:nvPicPr>
        <p:blipFill>
          <a:blip r:embed="rId3"/>
          <a:stretch>
            <a:fillRect/>
          </a:stretch>
        </p:blipFill>
        <p:spPr>
          <a:xfrm>
            <a:off x="8502823" y="4461175"/>
            <a:ext cx="294803" cy="294803"/>
          </a:xfrm>
          <a:prstGeom prst="rect">
            <a:avLst/>
          </a:prstGeom>
        </p:spPr>
      </p:pic>
      <p:sp>
        <p:nvSpPr>
          <p:cNvPr id="20" name="Text 15"/>
          <p:cNvSpPr txBox="1"/>
          <p:nvPr/>
        </p:nvSpPr>
        <p:spPr>
          <a:xfrm>
            <a:off x="9098280" y="4297680"/>
            <a:ext cx="2423160" cy="365760"/>
          </a:xfrm>
          <a:prstGeom prst="rect">
            <a:avLst/>
          </a:prstGeom>
          <a:noFill/>
          <a:ln/>
        </p:spPr>
        <p:txBody>
          <a:bodyPr wrap="square" lIns="0" tIns="0" rIns="0" bIns="0" rtlCol="0" anchor="ctr"/>
          <a:lstStyle/>
          <a:p>
            <a:pPr indent="0" marL="0">
              <a:buNone/>
            </a:pPr>
            <a:r>
              <a:rPr lang="en-US" sz="1700" b="1" dirty="0">
                <a:solidFill>
                  <a:schemeClr val="bg1"/>
                </a:solidFill>
              </a:rPr>
              <a:t>Akil Venkateshkumar</a:t>
            </a:r>
            <a:endParaRPr lang="en-US" sz="1700" dirty="0"/>
          </a:p>
        </p:txBody>
      </p:sp>
      <p:sp>
        <p:nvSpPr>
          <p:cNvPr id="21" name="Text 16"/>
          <p:cNvSpPr txBox="1"/>
          <p:nvPr/>
        </p:nvSpPr>
        <p:spPr>
          <a:xfrm>
            <a:off x="9098280" y="4663440"/>
            <a:ext cx="2423160" cy="274320"/>
          </a:xfrm>
          <a:prstGeom prst="rect">
            <a:avLst/>
          </a:prstGeom>
          <a:noFill/>
          <a:ln/>
        </p:spPr>
        <p:txBody>
          <a:bodyPr wrap="square" lIns="0" tIns="0" rIns="0" bIns="0" rtlCol="0" anchor="ctr"/>
          <a:lstStyle/>
          <a:p>
            <a:pPr indent="0" marL="0">
              <a:buNone/>
            </a:pPr>
            <a:r>
              <a:rPr lang="en-US" sz="1200" dirty="0">
                <a:solidFill>
                  <a:srgbClr val="A9CFCB"/>
                </a:solidFill>
              </a:rPr>
              <a:t>ID 26244259</a:t>
            </a:r>
            <a:endParaRPr lang="en-US" sz="1200" dirty="0"/>
          </a:p>
        </p:txBody>
      </p:sp>
      <p:sp>
        <p:nvSpPr>
          <p:cNvPr id="22" name="Text 17"/>
          <p:cNvSpPr txBox="1"/>
          <p:nvPr/>
        </p:nvSpPr>
        <p:spPr>
          <a:xfrm>
            <a:off x="8366760" y="5074920"/>
            <a:ext cx="3108960" cy="640080"/>
          </a:xfrm>
          <a:prstGeom prst="rect">
            <a:avLst/>
          </a:prstGeom>
          <a:noFill/>
          <a:ln/>
        </p:spPr>
        <p:txBody>
          <a:bodyPr wrap="square" lIns="0" tIns="0" rIns="0" bIns="0" rtlCol="0" anchor="t"/>
          <a:lstStyle/>
          <a:p>
            <a:pPr indent="0" marL="0">
              <a:buNone/>
            </a:pPr>
            <a:r>
              <a:rPr lang="en-US" sz="1300" dirty="0">
                <a:solidFill>
                  <a:schemeClr val="bg1"/>
                </a:solidFill>
              </a:rPr>
              <a:t>Exam scores and demographics (Kaggle)</a:t>
            </a:r>
            <a:endParaRPr lang="en-US" sz="1300" dirty="0"/>
          </a:p>
          <a:p>
            <a:pPr indent="0" marL="0">
              <a:buNone/>
            </a:pPr>
            <a:r>
              <a:rPr lang="en-US" sz="1300" dirty="0">
                <a:solidFill>
                  <a:srgbClr val="A9CFCB"/>
                </a:solidFill>
              </a:rPr>
              <a:t>1,000 students, background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QUANG TRUNG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Schools find struggling students too late</a:t>
            </a:r>
            <a:endParaRPr lang="en-US" sz="3200" dirty="0"/>
          </a:p>
        </p:txBody>
      </p:sp>
      <p:sp>
        <p:nvSpPr>
          <p:cNvPr id="5" name="Text 3"/>
          <p:cNvSpPr txBox="1"/>
          <p:nvPr/>
        </p:nvSpPr>
        <p:spPr>
          <a:xfrm>
            <a:off x="548640" y="1600200"/>
            <a:ext cx="6035040" cy="320040"/>
          </a:xfrm>
          <a:prstGeom prst="rect">
            <a:avLst/>
          </a:prstGeom>
          <a:noFill/>
          <a:ln/>
        </p:spPr>
        <p:txBody>
          <a:bodyPr wrap="square" lIns="0" tIns="0" rIns="0" bIns="0" rtlCol="0" anchor="ctr"/>
          <a:lstStyle/>
          <a:p>
            <a:pPr indent="0" marL="0">
              <a:buNone/>
            </a:pPr>
            <a:r>
              <a:rPr lang="en-US" sz="1500" b="1" dirty="0">
                <a:solidFill>
                  <a:schemeClr val="accent1"/>
                </a:solidFill>
              </a:rPr>
              <a:t>Problem</a:t>
            </a:r>
            <a:endParaRPr lang="en-US" sz="1500" dirty="0"/>
          </a:p>
        </p:txBody>
      </p:sp>
      <p:sp>
        <p:nvSpPr>
          <p:cNvPr id="6" name="Text 4"/>
          <p:cNvSpPr txBox="1"/>
          <p:nvPr/>
        </p:nvSpPr>
        <p:spPr>
          <a:xfrm>
            <a:off x="548640" y="1947672"/>
            <a:ext cx="6035040" cy="914400"/>
          </a:xfrm>
          <a:prstGeom prst="rect">
            <a:avLst/>
          </a:prstGeom>
          <a:noFill/>
          <a:ln/>
        </p:spPr>
        <p:txBody>
          <a:bodyPr wrap="square" lIns="0" tIns="0" rIns="0" bIns="0" rtlCol="0" anchor="t"/>
          <a:lstStyle/>
          <a:p>
            <a:pPr indent="0" marL="0">
              <a:buNone/>
            </a:pPr>
            <a:r>
              <a:rPr lang="en-US" sz="1700" dirty="0">
                <a:solidFill>
                  <a:schemeClr val="tx1"/>
                </a:solidFill>
              </a:rPr>
              <a:t>Students at risk are often found after the final grade, when it is too late to help them.</a:t>
            </a:r>
            <a:endParaRPr lang="en-US" sz="1700" dirty="0"/>
          </a:p>
        </p:txBody>
      </p:sp>
      <p:sp>
        <p:nvSpPr>
          <p:cNvPr id="7" name="Text 5"/>
          <p:cNvSpPr txBox="1"/>
          <p:nvPr/>
        </p:nvSpPr>
        <p:spPr>
          <a:xfrm>
            <a:off x="548640" y="3063240"/>
            <a:ext cx="6035040" cy="320040"/>
          </a:xfrm>
          <a:prstGeom prst="rect">
            <a:avLst/>
          </a:prstGeom>
          <a:noFill/>
          <a:ln/>
        </p:spPr>
        <p:txBody>
          <a:bodyPr wrap="square" lIns="0" tIns="0" rIns="0" bIns="0" rtlCol="0" anchor="ctr"/>
          <a:lstStyle/>
          <a:p>
            <a:pPr indent="0" marL="0">
              <a:buNone/>
            </a:pPr>
            <a:r>
              <a:rPr lang="en-US" sz="1500" b="1" dirty="0">
                <a:solidFill>
                  <a:schemeClr val="accent1"/>
                </a:solidFill>
              </a:rPr>
              <a:t>What Stage 1 showed</a:t>
            </a:r>
            <a:endParaRPr lang="en-US" sz="1500" dirty="0"/>
          </a:p>
        </p:txBody>
      </p:sp>
      <p:sp>
        <p:nvSpPr>
          <p:cNvPr id="8" name="Text 6"/>
          <p:cNvSpPr txBox="1"/>
          <p:nvPr/>
        </p:nvSpPr>
        <p:spPr>
          <a:xfrm>
            <a:off x="548640" y="3410712"/>
            <a:ext cx="6035040" cy="914400"/>
          </a:xfrm>
          <a:prstGeom prst="rect">
            <a:avLst/>
          </a:prstGeom>
          <a:noFill/>
          <a:ln/>
        </p:spPr>
        <p:txBody>
          <a:bodyPr wrap="square" lIns="0" tIns="0" rIns="0" bIns="0" rtlCol="0" anchor="t"/>
          <a:lstStyle/>
          <a:p>
            <a:pPr indent="0" marL="0">
              <a:buNone/>
            </a:pPr>
            <a:r>
              <a:rPr lang="en-US" sz="1700" dirty="0">
                <a:solidFill>
                  <a:schemeClr val="tx1"/>
                </a:solidFill>
              </a:rPr>
              <a:t>Performance depends on earlier grades, study behaviour and family background. No single model or variable explains it in every setting.</a:t>
            </a:r>
            <a:endParaRPr lang="en-US" sz="1700" dirty="0"/>
          </a:p>
        </p:txBody>
      </p:sp>
      <p:sp>
        <p:nvSpPr>
          <p:cNvPr id="9" name="Text 7"/>
          <p:cNvSpPr txBox="1"/>
          <p:nvPr/>
        </p:nvSpPr>
        <p:spPr>
          <a:xfrm>
            <a:off x="548640" y="4526280"/>
            <a:ext cx="6035040" cy="320040"/>
          </a:xfrm>
          <a:prstGeom prst="rect">
            <a:avLst/>
          </a:prstGeom>
          <a:noFill/>
          <a:ln/>
        </p:spPr>
        <p:txBody>
          <a:bodyPr wrap="square" lIns="0" tIns="0" rIns="0" bIns="0" rtlCol="0" anchor="ctr"/>
          <a:lstStyle/>
          <a:p>
            <a:pPr indent="0" marL="0">
              <a:buNone/>
            </a:pPr>
            <a:r>
              <a:rPr lang="en-US" sz="1500" b="1" dirty="0">
                <a:solidFill>
                  <a:schemeClr val="accent1"/>
                </a:solidFill>
              </a:rPr>
              <a:t>Objective</a:t>
            </a:r>
            <a:endParaRPr lang="en-US" sz="1500" dirty="0"/>
          </a:p>
        </p:txBody>
      </p:sp>
      <p:sp>
        <p:nvSpPr>
          <p:cNvPr id="10" name="Text 8"/>
          <p:cNvSpPr txBox="1"/>
          <p:nvPr/>
        </p:nvSpPr>
        <p:spPr>
          <a:xfrm>
            <a:off x="548640" y="4873752"/>
            <a:ext cx="6035040" cy="914400"/>
          </a:xfrm>
          <a:prstGeom prst="rect">
            <a:avLst/>
          </a:prstGeom>
          <a:noFill/>
          <a:ln/>
        </p:spPr>
        <p:txBody>
          <a:bodyPr wrap="square" lIns="0" tIns="0" rIns="0" bIns="0" rtlCol="0" anchor="t"/>
          <a:lstStyle/>
          <a:p>
            <a:pPr indent="0" marL="0">
              <a:buNone/>
            </a:pPr>
            <a:r>
              <a:rPr lang="en-US" sz="1700" dirty="0">
                <a:solidFill>
                  <a:schemeClr val="tx1"/>
                </a:solidFill>
              </a:rPr>
              <a:t>Find which factors are linked to the final score, then test which of three models predicts it best on three kinds of data.</a:t>
            </a:r>
            <a:endParaRPr lang="en-US" sz="1700" dirty="0"/>
          </a:p>
        </p:txBody>
      </p:sp>
      <p:sp>
        <p:nvSpPr>
          <p:cNvPr id="11" name="Stat panel"/>
          <p:cNvSpPr/>
          <p:nvPr/>
        </p:nvSpPr>
        <p:spPr>
          <a:xfrm>
            <a:off x="7086600" y="1600200"/>
            <a:ext cx="4553712" cy="4251960"/>
          </a:xfrm>
          <a:prstGeom prst="roundRect">
            <a:avLst>
              <a:gd name="adj" fmla="val 1720"/>
            </a:avLst>
          </a:prstGeom>
          <a:solidFill>
            <a:schemeClr val="bg2"/>
          </a:solidFill>
          <a:ln/>
        </p:spPr>
      </p:sp>
      <p:sp>
        <p:nvSpPr>
          <p:cNvPr id="12" name="Text 10"/>
          <p:cNvSpPr txBox="1"/>
          <p:nvPr/>
        </p:nvSpPr>
        <p:spPr>
          <a:xfrm>
            <a:off x="7406640" y="1783080"/>
            <a:ext cx="3931920" cy="91440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76.6%</a:t>
            </a:r>
            <a:endParaRPr lang="en-US" sz="6000" dirty="0"/>
          </a:p>
        </p:txBody>
      </p:sp>
      <p:sp>
        <p:nvSpPr>
          <p:cNvPr id="13" name="Text 11"/>
          <p:cNvSpPr txBox="1"/>
          <p:nvPr/>
        </p:nvSpPr>
        <p:spPr>
          <a:xfrm>
            <a:off x="7406640" y="2697480"/>
            <a:ext cx="3931920" cy="685800"/>
          </a:xfrm>
          <a:prstGeom prst="rect">
            <a:avLst/>
          </a:prstGeom>
          <a:noFill/>
          <a:ln/>
        </p:spPr>
        <p:txBody>
          <a:bodyPr wrap="square" lIns="0" tIns="0" rIns="0" bIns="0" rtlCol="0" anchor="t"/>
          <a:lstStyle/>
          <a:p>
            <a:pPr indent="0" marL="0">
              <a:buNone/>
            </a:pPr>
            <a:r>
              <a:rPr lang="en-US" sz="1500" dirty="0">
                <a:solidFill>
                  <a:schemeClr val="tx1"/>
                </a:solidFill>
              </a:rPr>
              <a:t>of the variance in student success explained by earlier academic performance</a:t>
            </a:r>
            <a:endParaRPr lang="en-US" sz="1500" dirty="0"/>
          </a:p>
        </p:txBody>
      </p:sp>
      <p:sp>
        <p:nvSpPr>
          <p:cNvPr id="14" name="Text 12"/>
          <p:cNvSpPr txBox="1"/>
          <p:nvPr/>
        </p:nvSpPr>
        <p:spPr>
          <a:xfrm>
            <a:off x="7406640" y="3520440"/>
            <a:ext cx="3931920" cy="91440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6.0%</a:t>
            </a:r>
            <a:endParaRPr lang="en-US" sz="6000" dirty="0"/>
          </a:p>
        </p:txBody>
      </p:sp>
      <p:sp>
        <p:nvSpPr>
          <p:cNvPr id="15" name="Text 13"/>
          <p:cNvSpPr txBox="1"/>
          <p:nvPr/>
        </p:nvSpPr>
        <p:spPr>
          <a:xfrm>
            <a:off x="7406640" y="4434840"/>
            <a:ext cx="3931920" cy="411480"/>
          </a:xfrm>
          <a:prstGeom prst="rect">
            <a:avLst/>
          </a:prstGeom>
          <a:noFill/>
          <a:ln/>
        </p:spPr>
        <p:txBody>
          <a:bodyPr wrap="square" lIns="0" tIns="0" rIns="0" bIns="0" rtlCol="0" anchor="t"/>
          <a:lstStyle/>
          <a:p>
            <a:pPr indent="0" marL="0">
              <a:buNone/>
            </a:pPr>
            <a:r>
              <a:rPr lang="en-US" sz="1500" dirty="0">
                <a:solidFill>
                  <a:schemeClr val="tx1"/>
                </a:solidFill>
              </a:rPr>
              <a:t>explained by socioeconomic status</a:t>
            </a:r>
            <a:endParaRPr lang="en-US" sz="1500" dirty="0"/>
          </a:p>
        </p:txBody>
      </p:sp>
      <p:sp>
        <p:nvSpPr>
          <p:cNvPr id="16" name="Text 14"/>
          <p:cNvSpPr txBox="1"/>
          <p:nvPr/>
        </p:nvSpPr>
        <p:spPr>
          <a:xfrm>
            <a:off x="7406640" y="5212080"/>
            <a:ext cx="3931920" cy="457200"/>
          </a:xfrm>
          <a:prstGeom prst="rect">
            <a:avLst/>
          </a:prstGeom>
          <a:noFill/>
          <a:ln/>
        </p:spPr>
        <p:txBody>
          <a:bodyPr wrap="square" lIns="0" tIns="0" rIns="0" bIns="0" rtlCol="0" anchor="t"/>
          <a:lstStyle/>
          <a:p>
            <a:pPr indent="0" marL="0">
              <a:buNone/>
            </a:pPr>
            <a:r>
              <a:rPr lang="en-US" sz="1100" i="1" dirty="0">
                <a:solidFill>
                  <a:schemeClr val="accent6"/>
                </a:solidFill>
              </a:rPr>
              <a:t>Source: El Jihaoui et al. (2025), from our Stage 1 literature review</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QUANG TRUNG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Stage 1: three datasets, three kinds of predictor</a:t>
            </a:r>
            <a:endParaRPr lang="en-US" sz="3200" dirty="0"/>
          </a:p>
        </p:txBody>
      </p:sp>
      <p:sp>
        <p:nvSpPr>
          <p:cNvPr id="5" name="Dataset card"/>
          <p:cNvSpPr/>
          <p:nvPr/>
        </p:nvSpPr>
        <p:spPr>
          <a:xfrm>
            <a:off x="548640" y="1554480"/>
            <a:ext cx="3502152" cy="4069080"/>
          </a:xfrm>
          <a:prstGeom prst="roundRect">
            <a:avLst>
              <a:gd name="adj" fmla="val 2089"/>
            </a:avLst>
          </a:prstGeom>
          <a:solidFill>
            <a:schemeClr val="bg2"/>
          </a:solidFill>
          <a:ln/>
        </p:spPr>
      </p:sp>
      <p:sp>
        <p:nvSpPr>
          <p:cNvPr id="6" name="Shape 4"/>
          <p:cNvSpPr/>
          <p:nvPr/>
        </p:nvSpPr>
        <p:spPr>
          <a:xfrm>
            <a:off x="822960" y="1828800"/>
            <a:ext cx="640080" cy="640080"/>
          </a:xfrm>
          <a:prstGeom prst="ellipse">
            <a:avLst/>
          </a:prstGeom>
          <a:solidFill>
            <a:srgbClr val="1B7F79"/>
          </a:solidFill>
          <a:ln/>
        </p:spPr>
      </p:sp>
      <p:pic>
        <p:nvPicPr>
          <p:cNvPr id="7" name="Image 0" descr="preencoded.png">    </p:cNvPr>
          <p:cNvPicPr>
            <a:picLocks noChangeAspect="1"/>
          </p:cNvPicPr>
          <p:nvPr/>
        </p:nvPicPr>
        <p:blipFill>
          <a:blip r:embed="rId1"/>
          <a:stretch>
            <a:fillRect/>
          </a:stretch>
        </p:blipFill>
        <p:spPr>
          <a:xfrm>
            <a:off x="976579" y="1982419"/>
            <a:ext cx="332842" cy="332842"/>
          </a:xfrm>
          <a:prstGeom prst="rect">
            <a:avLst/>
          </a:prstGeom>
        </p:spPr>
      </p:pic>
      <p:sp>
        <p:nvSpPr>
          <p:cNvPr id="8" name="Text 5"/>
          <p:cNvSpPr txBox="1"/>
          <p:nvPr/>
        </p:nvSpPr>
        <p:spPr>
          <a:xfrm>
            <a:off x="1600200" y="1828800"/>
            <a:ext cx="2267712" cy="274320"/>
          </a:xfrm>
          <a:prstGeom prst="rect">
            <a:avLst/>
          </a:prstGeom>
          <a:noFill/>
          <a:ln/>
        </p:spPr>
        <p:txBody>
          <a:bodyPr wrap="square" lIns="0" tIns="0" rIns="0" bIns="0" rtlCol="0" anchor="ctr"/>
          <a:lstStyle/>
          <a:p>
            <a:pPr indent="0" marL="0">
              <a:buNone/>
            </a:pPr>
            <a:r>
              <a:rPr lang="en-US" sz="1200" b="1" dirty="0">
                <a:solidFill>
                  <a:schemeClr val="accent6"/>
                </a:solidFill>
              </a:rPr>
              <a:t>Ngoc An Nguyen</a:t>
            </a:r>
            <a:endParaRPr lang="en-US" sz="1200" dirty="0"/>
          </a:p>
        </p:txBody>
      </p:sp>
      <p:sp>
        <p:nvSpPr>
          <p:cNvPr id="9" name="Text 6"/>
          <p:cNvSpPr txBox="1"/>
          <p:nvPr/>
        </p:nvSpPr>
        <p:spPr>
          <a:xfrm>
            <a:off x="1600200" y="2103120"/>
            <a:ext cx="2267712" cy="411480"/>
          </a:xfrm>
          <a:prstGeom prst="rect">
            <a:avLst/>
          </a:prstGeom>
          <a:noFill/>
          <a:ln/>
        </p:spPr>
        <p:txBody>
          <a:bodyPr wrap="square" lIns="0" tIns="0" rIns="0" bIns="0" rtlCol="0" anchor="ctr"/>
          <a:lstStyle/>
          <a:p>
            <a:pPr indent="0" marL="0">
              <a:buNone/>
            </a:pPr>
            <a:r>
              <a:rPr lang="en-US" sz="1800" b="1" dirty="0">
                <a:solidFill>
                  <a:schemeClr val="tx2"/>
                </a:solidFill>
              </a:rPr>
              <a:t>Academic history</a:t>
            </a:r>
            <a:endParaRPr lang="en-US" sz="1800" dirty="0"/>
          </a:p>
        </p:txBody>
      </p:sp>
      <p:sp>
        <p:nvSpPr>
          <p:cNvPr id="10" name="Text 7"/>
          <p:cNvSpPr txBox="1"/>
          <p:nvPr/>
        </p:nvSpPr>
        <p:spPr>
          <a:xfrm>
            <a:off x="822960" y="2651760"/>
            <a:ext cx="2953512" cy="594360"/>
          </a:xfrm>
          <a:prstGeom prst="rect">
            <a:avLst/>
          </a:prstGeom>
          <a:noFill/>
          <a:ln/>
        </p:spPr>
        <p:txBody>
          <a:bodyPr wrap="square" lIns="0" tIns="0" rIns="0" bIns="0" rtlCol="0" anchor="t"/>
          <a:lstStyle/>
          <a:p>
            <a:pPr indent="0" marL="0">
              <a:buNone/>
            </a:pPr>
            <a:r>
              <a:rPr lang="en-US" sz="1300" dirty="0">
                <a:solidFill>
                  <a:schemeClr val="tx1"/>
                </a:solidFill>
              </a:rPr>
              <a:t>UCI, 395 students, 33 variables</a:t>
            </a:r>
            <a:endParaRPr lang="en-US" sz="1300" dirty="0"/>
          </a:p>
          <a:p>
            <a:pPr indent="0" marL="0">
              <a:buNone/>
            </a:pPr>
            <a:r>
              <a:rPr lang="en-US" sz="1300" dirty="0">
                <a:solidFill>
                  <a:schemeClr val="tx1"/>
                </a:solidFill>
              </a:rPr>
              <a:t>Target: final grade G3 (0 to 20)</a:t>
            </a:r>
            <a:endParaRPr lang="en-US" sz="1300" dirty="0"/>
          </a:p>
        </p:txBody>
      </p:sp>
      <p:sp>
        <p:nvSpPr>
          <p:cNvPr id="11" name="Text 8"/>
          <p:cNvSpPr txBox="1"/>
          <p:nvPr/>
        </p:nvSpPr>
        <p:spPr>
          <a:xfrm>
            <a:off x="822960" y="3429000"/>
            <a:ext cx="2953512" cy="228600"/>
          </a:xfrm>
          <a:prstGeom prst="rect">
            <a:avLst/>
          </a:prstGeom>
          <a:noFill/>
          <a:ln/>
        </p:spPr>
        <p:txBody>
          <a:bodyPr wrap="square" lIns="0" tIns="0" rIns="0" bIns="0" rtlCol="0" anchor="ctr"/>
          <a:lstStyle/>
          <a:p>
            <a:pPr indent="0" marL="0">
              <a:buNone/>
            </a:pPr>
            <a:r>
              <a:rPr lang="en-US" sz="1000" b="1" spc="100" kern="0" dirty="0">
                <a:solidFill>
                  <a:schemeClr val="accent6"/>
                </a:solidFill>
              </a:rPr>
              <a:t>STAGE 1 FINDING</a:t>
            </a:r>
            <a:endParaRPr lang="en-US" sz="1000" dirty="0"/>
          </a:p>
        </p:txBody>
      </p:sp>
      <p:sp>
        <p:nvSpPr>
          <p:cNvPr id="12" name="Text 9"/>
          <p:cNvSpPr txBox="1"/>
          <p:nvPr/>
        </p:nvSpPr>
        <p:spPr>
          <a:xfrm>
            <a:off x="822960" y="3657600"/>
            <a:ext cx="2953512" cy="594360"/>
          </a:xfrm>
          <a:prstGeom prst="rect">
            <a:avLst/>
          </a:prstGeom>
          <a:noFill/>
          <a:ln/>
        </p:spPr>
        <p:txBody>
          <a:bodyPr wrap="square" lIns="0" tIns="0" rIns="0" bIns="0" rtlCol="0" anchor="ctr"/>
          <a:lstStyle/>
          <a:p>
            <a:pPr indent="0" marL="0">
              <a:buNone/>
            </a:pPr>
            <a:r>
              <a:rPr lang="en-US" sz="3200" b="1" dirty="0">
                <a:solidFill>
                  <a:srgbClr val="1B7F79"/>
                </a:solidFill>
                <a:latin typeface="Cambria" pitchFamily="34" charset="0"/>
                <a:ea typeface="Cambria" pitchFamily="34" charset="-122"/>
                <a:cs typeface="Cambria" pitchFamily="34" charset="-120"/>
              </a:rPr>
              <a:t>r = 0.905</a:t>
            </a:r>
            <a:endParaRPr lang="en-US" sz="3200" dirty="0"/>
          </a:p>
        </p:txBody>
      </p:sp>
      <p:sp>
        <p:nvSpPr>
          <p:cNvPr id="13" name="Text 10"/>
          <p:cNvSpPr txBox="1"/>
          <p:nvPr/>
        </p:nvSpPr>
        <p:spPr>
          <a:xfrm>
            <a:off x="822960" y="4251960"/>
            <a:ext cx="2953512" cy="320040"/>
          </a:xfrm>
          <a:prstGeom prst="rect">
            <a:avLst/>
          </a:prstGeom>
          <a:noFill/>
          <a:ln/>
        </p:spPr>
        <p:txBody>
          <a:bodyPr wrap="square" lIns="0" tIns="0" rIns="0" bIns="0" rtlCol="0" anchor="ctr"/>
          <a:lstStyle/>
          <a:p>
            <a:pPr indent="0" marL="0">
              <a:buNone/>
            </a:pPr>
            <a:r>
              <a:rPr lang="en-US" sz="1400" dirty="0">
                <a:solidFill>
                  <a:schemeClr val="tx1"/>
                </a:solidFill>
              </a:rPr>
              <a:t>G2 vs final grade G3</a:t>
            </a:r>
            <a:endParaRPr lang="en-US" sz="1400" dirty="0"/>
          </a:p>
        </p:txBody>
      </p:sp>
      <p:sp>
        <p:nvSpPr>
          <p:cNvPr id="14" name="Text 11"/>
          <p:cNvSpPr txBox="1"/>
          <p:nvPr/>
        </p:nvSpPr>
        <p:spPr>
          <a:xfrm>
            <a:off x="822960" y="4663440"/>
            <a:ext cx="2953512" cy="685800"/>
          </a:xfrm>
          <a:prstGeom prst="rect">
            <a:avLst/>
          </a:prstGeom>
          <a:noFill/>
          <a:ln/>
        </p:spPr>
        <p:txBody>
          <a:bodyPr wrap="square" lIns="0" tIns="0" rIns="0" bIns="0" rtlCol="0" anchor="t"/>
          <a:lstStyle/>
          <a:p>
            <a:pPr indent="0" marL="0">
              <a:buNone/>
            </a:pPr>
            <a:r>
              <a:rPr lang="en-US" sz="1300" dirty="0">
                <a:solidFill>
                  <a:schemeClr val="accent6"/>
                </a:solidFill>
              </a:rPr>
              <a:t>Past failures: ρ = −0.361</a:t>
            </a:r>
            <a:endParaRPr lang="en-US" sz="1300" dirty="0"/>
          </a:p>
        </p:txBody>
      </p:sp>
      <p:sp>
        <p:nvSpPr>
          <p:cNvPr id="15" name="Dataset card"/>
          <p:cNvSpPr/>
          <p:nvPr/>
        </p:nvSpPr>
        <p:spPr>
          <a:xfrm>
            <a:off x="4343400" y="1554480"/>
            <a:ext cx="3502152" cy="4069080"/>
          </a:xfrm>
          <a:prstGeom prst="roundRect">
            <a:avLst>
              <a:gd name="adj" fmla="val 2089"/>
            </a:avLst>
          </a:prstGeom>
          <a:solidFill>
            <a:schemeClr val="bg2"/>
          </a:solidFill>
          <a:ln/>
        </p:spPr>
      </p:sp>
      <p:sp>
        <p:nvSpPr>
          <p:cNvPr id="16" name="Shape 13"/>
          <p:cNvSpPr/>
          <p:nvPr/>
        </p:nvSpPr>
        <p:spPr>
          <a:xfrm>
            <a:off x="4617720" y="1828800"/>
            <a:ext cx="640080" cy="640080"/>
          </a:xfrm>
          <a:prstGeom prst="ellipse">
            <a:avLst/>
          </a:prstGeom>
          <a:solidFill>
            <a:srgbClr val="E09F3E"/>
          </a:solidFill>
          <a:ln/>
        </p:spPr>
      </p:sp>
      <p:pic>
        <p:nvPicPr>
          <p:cNvPr id="17" name="Image 1" descr="preencoded.png">    </p:cNvPr>
          <p:cNvPicPr>
            <a:picLocks noChangeAspect="1"/>
          </p:cNvPicPr>
          <p:nvPr/>
        </p:nvPicPr>
        <p:blipFill>
          <a:blip r:embed="rId2"/>
          <a:stretch>
            <a:fillRect/>
          </a:stretch>
        </p:blipFill>
        <p:spPr>
          <a:xfrm>
            <a:off x="4771339" y="1982419"/>
            <a:ext cx="332842" cy="332842"/>
          </a:xfrm>
          <a:prstGeom prst="rect">
            <a:avLst/>
          </a:prstGeom>
        </p:spPr>
      </p:pic>
      <p:sp>
        <p:nvSpPr>
          <p:cNvPr id="18" name="Text 14"/>
          <p:cNvSpPr txBox="1"/>
          <p:nvPr/>
        </p:nvSpPr>
        <p:spPr>
          <a:xfrm>
            <a:off x="5394960" y="1828800"/>
            <a:ext cx="2267712" cy="274320"/>
          </a:xfrm>
          <a:prstGeom prst="rect">
            <a:avLst/>
          </a:prstGeom>
          <a:noFill/>
          <a:ln/>
        </p:spPr>
        <p:txBody>
          <a:bodyPr wrap="square" lIns="0" tIns="0" rIns="0" bIns="0" rtlCol="0" anchor="ctr"/>
          <a:lstStyle/>
          <a:p>
            <a:pPr indent="0" marL="0">
              <a:buNone/>
            </a:pPr>
            <a:r>
              <a:rPr lang="en-US" sz="1200" b="1" dirty="0">
                <a:solidFill>
                  <a:schemeClr val="accent6"/>
                </a:solidFill>
              </a:rPr>
              <a:t>Quang Trung Nguyen</a:t>
            </a:r>
            <a:endParaRPr lang="en-US" sz="1200" dirty="0"/>
          </a:p>
        </p:txBody>
      </p:sp>
      <p:sp>
        <p:nvSpPr>
          <p:cNvPr id="19" name="Text 15"/>
          <p:cNvSpPr txBox="1"/>
          <p:nvPr/>
        </p:nvSpPr>
        <p:spPr>
          <a:xfrm>
            <a:off x="5394960" y="2103120"/>
            <a:ext cx="2267712" cy="411480"/>
          </a:xfrm>
          <a:prstGeom prst="rect">
            <a:avLst/>
          </a:prstGeom>
          <a:noFill/>
          <a:ln/>
        </p:spPr>
        <p:txBody>
          <a:bodyPr wrap="square" lIns="0" tIns="0" rIns="0" bIns="0" rtlCol="0" anchor="ctr"/>
          <a:lstStyle/>
          <a:p>
            <a:pPr indent="0" marL="0">
              <a:buNone/>
            </a:pPr>
            <a:r>
              <a:rPr lang="en-US" sz="1800" b="1" dirty="0">
                <a:solidFill>
                  <a:schemeClr val="tx2"/>
                </a:solidFill>
              </a:rPr>
              <a:t>Study behaviour</a:t>
            </a:r>
            <a:endParaRPr lang="en-US" sz="1800" dirty="0"/>
          </a:p>
        </p:txBody>
      </p:sp>
      <p:sp>
        <p:nvSpPr>
          <p:cNvPr id="20" name="Text 16"/>
          <p:cNvSpPr txBox="1"/>
          <p:nvPr/>
        </p:nvSpPr>
        <p:spPr>
          <a:xfrm>
            <a:off x="4617720" y="2651760"/>
            <a:ext cx="2953512" cy="594360"/>
          </a:xfrm>
          <a:prstGeom prst="rect">
            <a:avLst/>
          </a:prstGeom>
          <a:noFill/>
          <a:ln/>
        </p:spPr>
        <p:txBody>
          <a:bodyPr wrap="square" lIns="0" tIns="0" rIns="0" bIns="0" rtlCol="0" anchor="t"/>
          <a:lstStyle/>
          <a:p>
            <a:pPr indent="0" marL="0">
              <a:buNone/>
            </a:pPr>
            <a:r>
              <a:rPr lang="en-US" sz="1300" dirty="0">
                <a:solidFill>
                  <a:schemeClr val="tx1"/>
                </a:solidFill>
              </a:rPr>
              <a:t>Kaggle, 1,000 students, 12 columns</a:t>
            </a:r>
            <a:endParaRPr lang="en-US" sz="1300" dirty="0"/>
          </a:p>
          <a:p>
            <a:pPr indent="0" marL="0">
              <a:buNone/>
            </a:pPr>
            <a:r>
              <a:rPr lang="en-US" sz="1300" dirty="0">
                <a:solidFill>
                  <a:schemeClr val="tx1"/>
                </a:solidFill>
              </a:rPr>
              <a:t>Target: final exam score (0 to 100)</a:t>
            </a:r>
            <a:endParaRPr lang="en-US" sz="1300" dirty="0"/>
          </a:p>
        </p:txBody>
      </p:sp>
      <p:sp>
        <p:nvSpPr>
          <p:cNvPr id="21" name="Text 17"/>
          <p:cNvSpPr txBox="1"/>
          <p:nvPr/>
        </p:nvSpPr>
        <p:spPr>
          <a:xfrm>
            <a:off x="4617720" y="3429000"/>
            <a:ext cx="2953512" cy="228600"/>
          </a:xfrm>
          <a:prstGeom prst="rect">
            <a:avLst/>
          </a:prstGeom>
          <a:noFill/>
          <a:ln/>
        </p:spPr>
        <p:txBody>
          <a:bodyPr wrap="square" lIns="0" tIns="0" rIns="0" bIns="0" rtlCol="0" anchor="ctr"/>
          <a:lstStyle/>
          <a:p>
            <a:pPr indent="0" marL="0">
              <a:buNone/>
            </a:pPr>
            <a:r>
              <a:rPr lang="en-US" sz="1000" b="1" spc="100" kern="0" dirty="0">
                <a:solidFill>
                  <a:schemeClr val="accent6"/>
                </a:solidFill>
              </a:rPr>
              <a:t>STAGE 1 FINDING</a:t>
            </a:r>
            <a:endParaRPr lang="en-US" sz="1000" dirty="0"/>
          </a:p>
        </p:txBody>
      </p:sp>
      <p:sp>
        <p:nvSpPr>
          <p:cNvPr id="22" name="Text 18"/>
          <p:cNvSpPr txBox="1"/>
          <p:nvPr/>
        </p:nvSpPr>
        <p:spPr>
          <a:xfrm>
            <a:off x="4617720" y="3657600"/>
            <a:ext cx="2953512" cy="594360"/>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r = 0.57</a:t>
            </a:r>
            <a:endParaRPr lang="en-US" sz="3200" dirty="0"/>
          </a:p>
        </p:txBody>
      </p:sp>
      <p:sp>
        <p:nvSpPr>
          <p:cNvPr id="23" name="Text 19"/>
          <p:cNvSpPr txBox="1"/>
          <p:nvPr/>
        </p:nvSpPr>
        <p:spPr>
          <a:xfrm>
            <a:off x="4617720" y="4251960"/>
            <a:ext cx="2953512" cy="320040"/>
          </a:xfrm>
          <a:prstGeom prst="rect">
            <a:avLst/>
          </a:prstGeom>
          <a:noFill/>
          <a:ln/>
        </p:spPr>
        <p:txBody>
          <a:bodyPr wrap="square" lIns="0" tIns="0" rIns="0" bIns="0" rtlCol="0" anchor="ctr"/>
          <a:lstStyle/>
          <a:p>
            <a:pPr indent="0" marL="0">
              <a:buNone/>
            </a:pPr>
            <a:r>
              <a:rPr lang="en-US" sz="1400" dirty="0">
                <a:solidFill>
                  <a:schemeClr val="tx1"/>
                </a:solidFill>
              </a:rPr>
              <a:t>study time vs exam score</a:t>
            </a:r>
            <a:endParaRPr lang="en-US" sz="1400" dirty="0"/>
          </a:p>
        </p:txBody>
      </p:sp>
      <p:sp>
        <p:nvSpPr>
          <p:cNvPr id="24" name="Text 20"/>
          <p:cNvSpPr txBox="1"/>
          <p:nvPr/>
        </p:nvSpPr>
        <p:spPr>
          <a:xfrm>
            <a:off x="4617720" y="4663440"/>
            <a:ext cx="2953512" cy="685800"/>
          </a:xfrm>
          <a:prstGeom prst="rect">
            <a:avLst/>
          </a:prstGeom>
          <a:noFill/>
          <a:ln/>
        </p:spPr>
        <p:txBody>
          <a:bodyPr wrap="square" lIns="0" tIns="0" rIns="0" bIns="0" rtlCol="0" anchor="t"/>
          <a:lstStyle/>
          <a:p>
            <a:pPr indent="0" marL="0">
              <a:buNone/>
            </a:pPr>
            <a:r>
              <a:rPr lang="en-US" sz="1300" dirty="0">
                <a:solidFill>
                  <a:schemeClr val="accent6"/>
                </a:solidFill>
              </a:rPr>
              <a:t>Internet access +5.0 points; part-time job −3.3 points</a:t>
            </a:r>
            <a:endParaRPr lang="en-US" sz="1300" dirty="0"/>
          </a:p>
        </p:txBody>
      </p:sp>
      <p:sp>
        <p:nvSpPr>
          <p:cNvPr id="25" name="Dataset card"/>
          <p:cNvSpPr/>
          <p:nvPr/>
        </p:nvSpPr>
        <p:spPr>
          <a:xfrm>
            <a:off x="8138160" y="1554480"/>
            <a:ext cx="3502152" cy="4069080"/>
          </a:xfrm>
          <a:prstGeom prst="roundRect">
            <a:avLst>
              <a:gd name="adj" fmla="val 2089"/>
            </a:avLst>
          </a:prstGeom>
          <a:solidFill>
            <a:schemeClr val="bg2"/>
          </a:solidFill>
          <a:ln/>
        </p:spPr>
      </p:sp>
      <p:sp>
        <p:nvSpPr>
          <p:cNvPr id="26" name="Shape 22"/>
          <p:cNvSpPr/>
          <p:nvPr/>
        </p:nvSpPr>
        <p:spPr>
          <a:xfrm>
            <a:off x="8412480" y="1828800"/>
            <a:ext cx="640080" cy="640080"/>
          </a:xfrm>
          <a:prstGeom prst="ellipse">
            <a:avLst/>
          </a:prstGeom>
          <a:solidFill>
            <a:srgbClr val="4F4C9A"/>
          </a:solidFill>
          <a:ln/>
        </p:spPr>
      </p:sp>
      <p:pic>
        <p:nvPicPr>
          <p:cNvPr id="27" name="Image 2" descr="preencoded.png">    </p:cNvPr>
          <p:cNvPicPr>
            <a:picLocks noChangeAspect="1"/>
          </p:cNvPicPr>
          <p:nvPr/>
        </p:nvPicPr>
        <p:blipFill>
          <a:blip r:embed="rId3"/>
          <a:stretch>
            <a:fillRect/>
          </a:stretch>
        </p:blipFill>
        <p:spPr>
          <a:xfrm>
            <a:off x="8566099" y="1982419"/>
            <a:ext cx="332842" cy="332842"/>
          </a:xfrm>
          <a:prstGeom prst="rect">
            <a:avLst/>
          </a:prstGeom>
        </p:spPr>
      </p:pic>
      <p:sp>
        <p:nvSpPr>
          <p:cNvPr id="28" name="Text 23"/>
          <p:cNvSpPr txBox="1"/>
          <p:nvPr/>
        </p:nvSpPr>
        <p:spPr>
          <a:xfrm>
            <a:off x="9189720" y="1828800"/>
            <a:ext cx="2267712" cy="274320"/>
          </a:xfrm>
          <a:prstGeom prst="rect">
            <a:avLst/>
          </a:prstGeom>
          <a:noFill/>
          <a:ln/>
        </p:spPr>
        <p:txBody>
          <a:bodyPr wrap="square" lIns="0" tIns="0" rIns="0" bIns="0" rtlCol="0" anchor="ctr"/>
          <a:lstStyle/>
          <a:p>
            <a:pPr indent="0" marL="0">
              <a:buNone/>
            </a:pPr>
            <a:r>
              <a:rPr lang="en-US" sz="1200" b="1" dirty="0">
                <a:solidFill>
                  <a:schemeClr val="accent6"/>
                </a:solidFill>
              </a:rPr>
              <a:t>Akil Venkateshkumar</a:t>
            </a:r>
            <a:endParaRPr lang="en-US" sz="1200" dirty="0"/>
          </a:p>
        </p:txBody>
      </p:sp>
      <p:sp>
        <p:nvSpPr>
          <p:cNvPr id="29" name="Text 24"/>
          <p:cNvSpPr txBox="1"/>
          <p:nvPr/>
        </p:nvSpPr>
        <p:spPr>
          <a:xfrm>
            <a:off x="9189720" y="2103120"/>
            <a:ext cx="2267712" cy="411480"/>
          </a:xfrm>
          <a:prstGeom prst="rect">
            <a:avLst/>
          </a:prstGeom>
          <a:noFill/>
          <a:ln/>
        </p:spPr>
        <p:txBody>
          <a:bodyPr wrap="square" lIns="0" tIns="0" rIns="0" bIns="0" rtlCol="0" anchor="ctr"/>
          <a:lstStyle/>
          <a:p>
            <a:pPr indent="0" marL="0">
              <a:buNone/>
            </a:pPr>
            <a:r>
              <a:rPr lang="en-US" sz="1800" b="1" dirty="0">
                <a:solidFill>
                  <a:schemeClr val="tx2"/>
                </a:solidFill>
              </a:rPr>
              <a:t>Demographics</a:t>
            </a:r>
            <a:endParaRPr lang="en-US" sz="1800" dirty="0"/>
          </a:p>
        </p:txBody>
      </p:sp>
      <p:sp>
        <p:nvSpPr>
          <p:cNvPr id="30" name="Text 25"/>
          <p:cNvSpPr txBox="1"/>
          <p:nvPr/>
        </p:nvSpPr>
        <p:spPr>
          <a:xfrm>
            <a:off x="8412480" y="2651760"/>
            <a:ext cx="2953512" cy="594360"/>
          </a:xfrm>
          <a:prstGeom prst="rect">
            <a:avLst/>
          </a:prstGeom>
          <a:noFill/>
          <a:ln/>
        </p:spPr>
        <p:txBody>
          <a:bodyPr wrap="square" lIns="0" tIns="0" rIns="0" bIns="0" rtlCol="0" anchor="t"/>
          <a:lstStyle/>
          <a:p>
            <a:pPr indent="0" marL="0">
              <a:buNone/>
            </a:pPr>
            <a:r>
              <a:rPr lang="en-US" sz="1300" dirty="0">
                <a:solidFill>
                  <a:schemeClr val="tx1"/>
                </a:solidFill>
              </a:rPr>
              <a:t>Kaggle, 1,000 students, 8 columns</a:t>
            </a:r>
            <a:endParaRPr lang="en-US" sz="1300" dirty="0"/>
          </a:p>
          <a:p>
            <a:pPr indent="0" marL="0">
              <a:buNone/>
            </a:pPr>
            <a:r>
              <a:rPr lang="en-US" sz="1300" dirty="0">
                <a:solidFill>
                  <a:schemeClr val="tx1"/>
                </a:solidFill>
              </a:rPr>
              <a:t>Target: mean of three test scores</a:t>
            </a:r>
            <a:endParaRPr lang="en-US" sz="1300" dirty="0"/>
          </a:p>
        </p:txBody>
      </p:sp>
      <p:sp>
        <p:nvSpPr>
          <p:cNvPr id="31" name="Text 26"/>
          <p:cNvSpPr txBox="1"/>
          <p:nvPr/>
        </p:nvSpPr>
        <p:spPr>
          <a:xfrm>
            <a:off x="8412480" y="3429000"/>
            <a:ext cx="2953512" cy="228600"/>
          </a:xfrm>
          <a:prstGeom prst="rect">
            <a:avLst/>
          </a:prstGeom>
          <a:noFill/>
          <a:ln/>
        </p:spPr>
        <p:txBody>
          <a:bodyPr wrap="square" lIns="0" tIns="0" rIns="0" bIns="0" rtlCol="0" anchor="ctr"/>
          <a:lstStyle/>
          <a:p>
            <a:pPr indent="0" marL="0">
              <a:buNone/>
            </a:pPr>
            <a:r>
              <a:rPr lang="en-US" sz="1000" b="1" spc="100" kern="0" dirty="0">
                <a:solidFill>
                  <a:schemeClr val="accent6"/>
                </a:solidFill>
              </a:rPr>
              <a:t>STAGE 1 FINDING</a:t>
            </a:r>
            <a:endParaRPr lang="en-US" sz="1000" dirty="0"/>
          </a:p>
        </p:txBody>
      </p:sp>
      <p:sp>
        <p:nvSpPr>
          <p:cNvPr id="32" name="Text 27"/>
          <p:cNvSpPr txBox="1"/>
          <p:nvPr/>
        </p:nvSpPr>
        <p:spPr>
          <a:xfrm>
            <a:off x="8412480" y="3657600"/>
            <a:ext cx="2953512" cy="594360"/>
          </a:xfrm>
          <a:prstGeom prst="rect">
            <a:avLst/>
          </a:prstGeom>
          <a:noFill/>
          <a:ln/>
        </p:spPr>
        <p:txBody>
          <a:bodyPr wrap="square" lIns="0" tIns="0" rIns="0" bIns="0" rtlCol="0" anchor="ctr"/>
          <a:lstStyle/>
          <a:p>
            <a:pPr indent="0" marL="0">
              <a:buNone/>
            </a:pPr>
            <a:r>
              <a:rPr lang="en-US" sz="3200" b="1" dirty="0">
                <a:solidFill>
                  <a:srgbClr val="4F4C9A"/>
                </a:solidFill>
                <a:latin typeface="Cambria" pitchFamily="34" charset="0"/>
                <a:ea typeface="Cambria" pitchFamily="34" charset="-122"/>
                <a:cs typeface="Cambria" pitchFamily="34" charset="-120"/>
              </a:rPr>
              <a:t>+8.6 points</a:t>
            </a:r>
            <a:endParaRPr lang="en-US" sz="3200" dirty="0"/>
          </a:p>
        </p:txBody>
      </p:sp>
      <p:sp>
        <p:nvSpPr>
          <p:cNvPr id="33" name="Text 28"/>
          <p:cNvSpPr txBox="1"/>
          <p:nvPr/>
        </p:nvSpPr>
        <p:spPr>
          <a:xfrm>
            <a:off x="8412480" y="4251960"/>
            <a:ext cx="2953512" cy="320040"/>
          </a:xfrm>
          <a:prstGeom prst="rect">
            <a:avLst/>
          </a:prstGeom>
          <a:noFill/>
          <a:ln/>
        </p:spPr>
        <p:txBody>
          <a:bodyPr wrap="square" lIns="0" tIns="0" rIns="0" bIns="0" rtlCol="0" anchor="ctr"/>
          <a:lstStyle/>
          <a:p>
            <a:pPr indent="0" marL="0">
              <a:buNone/>
            </a:pPr>
            <a:r>
              <a:rPr lang="en-US" sz="1400" dirty="0">
                <a:solidFill>
                  <a:schemeClr val="tx1"/>
                </a:solidFill>
              </a:rPr>
              <a:t>standard vs free or reduced lunch</a:t>
            </a:r>
            <a:endParaRPr lang="en-US" sz="1400" dirty="0"/>
          </a:p>
        </p:txBody>
      </p:sp>
      <p:sp>
        <p:nvSpPr>
          <p:cNvPr id="34" name="Text 29"/>
          <p:cNvSpPr txBox="1"/>
          <p:nvPr/>
        </p:nvSpPr>
        <p:spPr>
          <a:xfrm>
            <a:off x="8412480" y="4663440"/>
            <a:ext cx="2953512" cy="685800"/>
          </a:xfrm>
          <a:prstGeom prst="rect">
            <a:avLst/>
          </a:prstGeom>
          <a:noFill/>
          <a:ln/>
        </p:spPr>
        <p:txBody>
          <a:bodyPr wrap="square" lIns="0" tIns="0" rIns="0" bIns="0" rtlCol="0" anchor="t"/>
          <a:lstStyle/>
          <a:p>
            <a:pPr indent="0" marL="0">
              <a:buNone/>
            </a:pPr>
            <a:r>
              <a:rPr lang="en-US" sz="1300" dirty="0">
                <a:solidFill>
                  <a:schemeClr val="accent6"/>
                </a:solidFill>
              </a:rPr>
              <a:t>Parental education: 63.1 (high school) to 73.6 (master's)</a:t>
            </a:r>
            <a:endParaRPr lang="en-US" sz="1300" dirty="0"/>
          </a:p>
        </p:txBody>
      </p:sp>
      <p:sp>
        <p:nvSpPr>
          <p:cNvPr id="35" name="Text 30"/>
          <p:cNvSpPr txBox="1"/>
          <p:nvPr/>
        </p:nvSpPr>
        <p:spPr>
          <a:xfrm>
            <a:off x="548640" y="5833872"/>
            <a:ext cx="11094415" cy="365760"/>
          </a:xfrm>
          <a:prstGeom prst="rect">
            <a:avLst/>
          </a:prstGeom>
          <a:noFill/>
          <a:ln/>
        </p:spPr>
        <p:txBody>
          <a:bodyPr wrap="square" lIns="0" tIns="0" rIns="0" bIns="0" rtlCol="0" anchor="ctr"/>
          <a:lstStyle/>
          <a:p>
            <a:pPr indent="0" marL="0">
              <a:buNone/>
            </a:pPr>
            <a:r>
              <a:rPr lang="en-US" sz="1600" i="1" dirty="0">
                <a:solidFill>
                  <a:schemeClr val="accent1"/>
                </a:solidFill>
              </a:rPr>
              <a:t>Stage 2 question: can these factors predict the score, and which model does it best?</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NGOC AN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Why these three models</a:t>
            </a:r>
            <a:endParaRPr lang="en-US" sz="3200" dirty="0"/>
          </a:p>
        </p:txBody>
      </p:sp>
      <p:sp>
        <p:nvSpPr>
          <p:cNvPr id="5" name="Text 3"/>
          <p:cNvSpPr txBox="1"/>
          <p:nvPr/>
        </p:nvSpPr>
        <p:spPr>
          <a:xfrm>
            <a:off x="548640" y="1554480"/>
            <a:ext cx="5760720" cy="365760"/>
          </a:xfrm>
          <a:prstGeom prst="rect">
            <a:avLst/>
          </a:prstGeom>
          <a:noFill/>
          <a:ln/>
        </p:spPr>
        <p:txBody>
          <a:bodyPr wrap="square" lIns="0" tIns="0" rIns="0" bIns="0" rtlCol="0" anchor="ctr"/>
          <a:lstStyle/>
          <a:p>
            <a:pPr indent="0" marL="0">
              <a:buNone/>
            </a:pPr>
            <a:r>
              <a:rPr lang="en-US" sz="1600" b="1" dirty="0">
                <a:solidFill>
                  <a:schemeClr val="accent1"/>
                </a:solidFill>
              </a:rPr>
              <a:t>What the literature says</a:t>
            </a:r>
            <a:endParaRPr lang="en-US" sz="1600" dirty="0"/>
          </a:p>
        </p:txBody>
      </p:sp>
      <p:sp>
        <p:nvSpPr>
          <p:cNvPr id="6" name="Text 4"/>
          <p:cNvSpPr txBox="1"/>
          <p:nvPr/>
        </p:nvSpPr>
        <p:spPr>
          <a:xfrm>
            <a:off x="548640" y="2011680"/>
            <a:ext cx="5760720" cy="777240"/>
          </a:xfrm>
          <a:prstGeom prst="rect">
            <a:avLst/>
          </a:prstGeom>
          <a:noFill/>
          <a:ln/>
        </p:spPr>
        <p:txBody>
          <a:bodyPr wrap="square" lIns="0" tIns="0" rIns="0" bIns="0" rtlCol="0" anchor="t"/>
          <a:lstStyle/>
          <a:p>
            <a:pPr indent="0" marL="0">
              <a:buNone/>
            </a:pPr>
            <a:r>
              <a:rPr lang="en-US" sz="1400" b="1" dirty="0">
                <a:solidFill>
                  <a:schemeClr val="tx2"/>
                </a:solidFill>
              </a:rPr>
              <a:t>Namoun &amp; Alshanqiti (2021)</a:t>
            </a:r>
            <a:endParaRPr lang="en-US" sz="1400" dirty="0"/>
          </a:p>
          <a:p>
            <a:pPr indent="0" marL="0">
              <a:buNone/>
            </a:pPr>
            <a:r>
              <a:rPr lang="en-US" sz="1400" dirty="0">
                <a:solidFill>
                  <a:schemeClr val="tx1"/>
                </a:solidFill>
              </a:rPr>
              <a:t>Regression used in 51.6% of 62 studies</a:t>
            </a:r>
            <a:endParaRPr lang="en-US" sz="1400" dirty="0"/>
          </a:p>
        </p:txBody>
      </p:sp>
      <p:sp>
        <p:nvSpPr>
          <p:cNvPr id="7" name="Text 5"/>
          <p:cNvSpPr txBox="1"/>
          <p:nvPr/>
        </p:nvSpPr>
        <p:spPr>
          <a:xfrm>
            <a:off x="548640" y="2880360"/>
            <a:ext cx="5760720" cy="777240"/>
          </a:xfrm>
          <a:prstGeom prst="rect">
            <a:avLst/>
          </a:prstGeom>
          <a:noFill/>
          <a:ln/>
        </p:spPr>
        <p:txBody>
          <a:bodyPr wrap="square" lIns="0" tIns="0" rIns="0" bIns="0" rtlCol="0" anchor="t"/>
          <a:lstStyle/>
          <a:p>
            <a:pPr indent="0" marL="0">
              <a:buNone/>
            </a:pPr>
            <a:r>
              <a:rPr lang="en-US" sz="1400" b="1" dirty="0">
                <a:solidFill>
                  <a:schemeClr val="tx2"/>
                </a:solidFill>
              </a:rPr>
              <a:t>Cortez &amp; Silva (2008)</a:t>
            </a:r>
            <a:endParaRPr lang="en-US" sz="1400" dirty="0"/>
          </a:p>
          <a:p>
            <a:pPr indent="0" marL="0">
              <a:buNone/>
            </a:pPr>
            <a:r>
              <a:rPr lang="en-US" sz="1400" dirty="0">
                <a:solidFill>
                  <a:schemeClr val="tx1"/>
                </a:solidFill>
              </a:rPr>
              <a:t>Random forest best in 8 cases, decision tree in 4; RMSE 1.75 with G1, G2 and 3.90 without</a:t>
            </a:r>
            <a:endParaRPr lang="en-US" sz="1400" dirty="0"/>
          </a:p>
        </p:txBody>
      </p:sp>
      <p:sp>
        <p:nvSpPr>
          <p:cNvPr id="8" name="Text 6"/>
          <p:cNvSpPr txBox="1"/>
          <p:nvPr/>
        </p:nvSpPr>
        <p:spPr>
          <a:xfrm>
            <a:off x="548640" y="3749040"/>
            <a:ext cx="5760720" cy="777240"/>
          </a:xfrm>
          <a:prstGeom prst="rect">
            <a:avLst/>
          </a:prstGeom>
          <a:noFill/>
          <a:ln/>
        </p:spPr>
        <p:txBody>
          <a:bodyPr wrap="square" lIns="0" tIns="0" rIns="0" bIns="0" rtlCol="0" anchor="t"/>
          <a:lstStyle/>
          <a:p>
            <a:pPr indent="0" marL="0">
              <a:buNone/>
            </a:pPr>
            <a:r>
              <a:rPr lang="en-US" sz="1400" b="1" dirty="0">
                <a:solidFill>
                  <a:schemeClr val="tx2"/>
                </a:solidFill>
              </a:rPr>
              <a:t>Falát &amp; Piscová (2022)</a:t>
            </a:r>
            <a:endParaRPr lang="en-US" sz="1400" dirty="0"/>
          </a:p>
          <a:p>
            <a:pPr indent="0" marL="0">
              <a:buNone/>
            </a:pPr>
            <a:r>
              <a:rPr lang="en-US" sz="1400" dirty="0">
                <a:solidFill>
                  <a:schemeClr val="tx1"/>
                </a:solidFill>
              </a:rPr>
              <a:t>Random forest had the lowest error for university GPA</a:t>
            </a:r>
            <a:endParaRPr lang="en-US" sz="1400" dirty="0"/>
          </a:p>
        </p:txBody>
      </p:sp>
      <p:sp>
        <p:nvSpPr>
          <p:cNvPr id="9" name="Text 7"/>
          <p:cNvSpPr txBox="1"/>
          <p:nvPr/>
        </p:nvSpPr>
        <p:spPr>
          <a:xfrm>
            <a:off x="548640" y="4617720"/>
            <a:ext cx="5760720" cy="777240"/>
          </a:xfrm>
          <a:prstGeom prst="rect">
            <a:avLst/>
          </a:prstGeom>
          <a:noFill/>
          <a:ln/>
        </p:spPr>
        <p:txBody>
          <a:bodyPr wrap="square" lIns="0" tIns="0" rIns="0" bIns="0" rtlCol="0" anchor="t"/>
          <a:lstStyle/>
          <a:p>
            <a:pPr indent="0" marL="0">
              <a:buNone/>
            </a:pPr>
            <a:r>
              <a:rPr lang="en-US" sz="1400" b="1" dirty="0">
                <a:solidFill>
                  <a:schemeClr val="tx2"/>
                </a:solidFill>
              </a:rPr>
              <a:t>Sonkhanani et al. (2026)</a:t>
            </a:r>
            <a:endParaRPr lang="en-US" sz="1400" dirty="0"/>
          </a:p>
          <a:p>
            <a:pPr indent="0" marL="0">
              <a:buNone/>
            </a:pPr>
            <a:r>
              <a:rPr lang="en-US" sz="1400" dirty="0">
                <a:solidFill>
                  <a:schemeClr val="tx1"/>
                </a:solidFill>
              </a:rPr>
              <a:t>Linear regression best (R² 0.705) when earlier grades are available</a:t>
            </a:r>
            <a:endParaRPr lang="en-US" sz="1400" dirty="0"/>
          </a:p>
        </p:txBody>
      </p:sp>
      <p:sp>
        <p:nvSpPr>
          <p:cNvPr id="10" name="Text 8"/>
          <p:cNvSpPr txBox="1"/>
          <p:nvPr/>
        </p:nvSpPr>
        <p:spPr>
          <a:xfrm>
            <a:off x="548640" y="5577840"/>
            <a:ext cx="5760720" cy="365760"/>
          </a:xfrm>
          <a:prstGeom prst="rect">
            <a:avLst/>
          </a:prstGeom>
          <a:noFill/>
          <a:ln/>
        </p:spPr>
        <p:txBody>
          <a:bodyPr wrap="square" lIns="0" tIns="0" rIns="0" bIns="0" rtlCol="0" anchor="ctr"/>
          <a:lstStyle/>
          <a:p>
            <a:pPr indent="0" marL="0">
              <a:buNone/>
            </a:pPr>
            <a:r>
              <a:rPr lang="en-US" sz="1500" i="1" dirty="0">
                <a:solidFill>
                  <a:schemeClr val="accent1"/>
                </a:solidFill>
              </a:rPr>
              <a:t>No single winner, so we test all three under one protocol.</a:t>
            </a:r>
            <a:endParaRPr lang="en-US" sz="1500" dirty="0"/>
          </a:p>
        </p:txBody>
      </p:sp>
      <p:sp>
        <p:nvSpPr>
          <p:cNvPr id="11" name="Model card"/>
          <p:cNvSpPr/>
          <p:nvPr/>
        </p:nvSpPr>
        <p:spPr>
          <a:xfrm>
            <a:off x="6720840" y="1554480"/>
            <a:ext cx="4919472" cy="1298448"/>
          </a:xfrm>
          <a:prstGeom prst="roundRect">
            <a:avLst>
              <a:gd name="adj" fmla="val 5634"/>
            </a:avLst>
          </a:prstGeom>
          <a:solidFill>
            <a:schemeClr val="bg2"/>
          </a:solidFill>
          <a:ln/>
        </p:spPr>
      </p:sp>
      <p:sp>
        <p:nvSpPr>
          <p:cNvPr id="12" name="Shape 10"/>
          <p:cNvSpPr/>
          <p:nvPr/>
        </p:nvSpPr>
        <p:spPr>
          <a:xfrm>
            <a:off x="6949440" y="1856232"/>
            <a:ext cx="685800" cy="685800"/>
          </a:xfrm>
          <a:prstGeom prst="ellipse">
            <a:avLst/>
          </a:prstGeom>
          <a:solidFill>
            <a:srgbClr val="1B7F79"/>
          </a:solidFill>
          <a:ln/>
        </p:spPr>
      </p:sp>
      <p:pic>
        <p:nvPicPr>
          <p:cNvPr id="13" name="Image 0" descr="preencoded.png">    </p:cNvPr>
          <p:cNvPicPr>
            <a:picLocks noChangeAspect="1"/>
          </p:cNvPicPr>
          <p:nvPr/>
        </p:nvPicPr>
        <p:blipFill>
          <a:blip r:embed="rId1"/>
          <a:stretch>
            <a:fillRect/>
          </a:stretch>
        </p:blipFill>
        <p:spPr>
          <a:xfrm>
            <a:off x="7114032" y="2020824"/>
            <a:ext cx="356616" cy="356616"/>
          </a:xfrm>
          <a:prstGeom prst="rect">
            <a:avLst/>
          </a:prstGeom>
        </p:spPr>
      </p:pic>
      <p:sp>
        <p:nvSpPr>
          <p:cNvPr id="14" name="Text 11"/>
          <p:cNvSpPr txBox="1"/>
          <p:nvPr/>
        </p:nvSpPr>
        <p:spPr>
          <a:xfrm>
            <a:off x="7863840" y="1691640"/>
            <a:ext cx="3593592" cy="365760"/>
          </a:xfrm>
          <a:prstGeom prst="rect">
            <a:avLst/>
          </a:prstGeom>
          <a:noFill/>
          <a:ln/>
        </p:spPr>
        <p:txBody>
          <a:bodyPr wrap="square" lIns="0" tIns="0" rIns="0" bIns="0" rtlCol="0" anchor="ctr"/>
          <a:lstStyle/>
          <a:p>
            <a:pPr indent="0" marL="0">
              <a:buNone/>
            </a:pPr>
            <a:r>
              <a:rPr lang="en-US" sz="1800" b="1" dirty="0">
                <a:solidFill>
                  <a:schemeClr val="tx2"/>
                </a:solidFill>
              </a:rPr>
              <a:t>Linear regression</a:t>
            </a:r>
            <a:endParaRPr lang="en-US" sz="1800" dirty="0"/>
          </a:p>
        </p:txBody>
      </p:sp>
      <p:sp>
        <p:nvSpPr>
          <p:cNvPr id="15" name="Text 12"/>
          <p:cNvSpPr txBox="1"/>
          <p:nvPr/>
        </p:nvSpPr>
        <p:spPr>
          <a:xfrm>
            <a:off x="7863840" y="2057400"/>
            <a:ext cx="3593592" cy="731520"/>
          </a:xfrm>
          <a:prstGeom prst="rect">
            <a:avLst/>
          </a:prstGeom>
          <a:noFill/>
          <a:ln/>
        </p:spPr>
        <p:txBody>
          <a:bodyPr wrap="square" lIns="0" tIns="0" rIns="0" bIns="0" rtlCol="0" anchor="t"/>
          <a:lstStyle/>
          <a:p>
            <a:pPr indent="0" marL="0">
              <a:buNone/>
            </a:pPr>
            <a:r>
              <a:rPr lang="en-US" sz="1400" dirty="0">
                <a:solidFill>
                  <a:schemeClr val="tx1"/>
                </a:solidFill>
              </a:rPr>
              <a:t>Transparent baseline with readable coefficients</a:t>
            </a:r>
            <a:endParaRPr lang="en-US" sz="1400" dirty="0"/>
          </a:p>
          <a:p>
            <a:pPr indent="0" marL="0">
              <a:buNone/>
            </a:pPr>
            <a:r>
              <a:rPr lang="en-US" sz="1200" dirty="0">
                <a:solidFill>
                  <a:schemeClr val="accent6"/>
                </a:solidFill>
              </a:rPr>
              <a:t>Tuning: none (ordinary least squares)</a:t>
            </a:r>
            <a:endParaRPr lang="en-US" sz="1400" dirty="0"/>
          </a:p>
        </p:txBody>
      </p:sp>
      <p:sp>
        <p:nvSpPr>
          <p:cNvPr id="16" name="Model card"/>
          <p:cNvSpPr/>
          <p:nvPr/>
        </p:nvSpPr>
        <p:spPr>
          <a:xfrm>
            <a:off x="6720840" y="3035808"/>
            <a:ext cx="4919472" cy="1298448"/>
          </a:xfrm>
          <a:prstGeom prst="roundRect">
            <a:avLst>
              <a:gd name="adj" fmla="val 5634"/>
            </a:avLst>
          </a:prstGeom>
          <a:solidFill>
            <a:schemeClr val="bg2"/>
          </a:solidFill>
          <a:ln/>
        </p:spPr>
      </p:sp>
      <p:sp>
        <p:nvSpPr>
          <p:cNvPr id="17" name="Shape 14"/>
          <p:cNvSpPr/>
          <p:nvPr/>
        </p:nvSpPr>
        <p:spPr>
          <a:xfrm>
            <a:off x="6949440" y="3337560"/>
            <a:ext cx="685800" cy="685800"/>
          </a:xfrm>
          <a:prstGeom prst="ellipse">
            <a:avLst/>
          </a:prstGeom>
          <a:solidFill>
            <a:srgbClr val="E09F3E"/>
          </a:solidFill>
          <a:ln/>
        </p:spPr>
      </p:sp>
      <p:pic>
        <p:nvPicPr>
          <p:cNvPr id="18" name="Image 1" descr="preencoded.png">    </p:cNvPr>
          <p:cNvPicPr>
            <a:picLocks noChangeAspect="1"/>
          </p:cNvPicPr>
          <p:nvPr/>
        </p:nvPicPr>
        <p:blipFill>
          <a:blip r:embed="rId2"/>
          <a:stretch>
            <a:fillRect/>
          </a:stretch>
        </p:blipFill>
        <p:spPr>
          <a:xfrm>
            <a:off x="7114032" y="3502152"/>
            <a:ext cx="356616" cy="356616"/>
          </a:xfrm>
          <a:prstGeom prst="rect">
            <a:avLst/>
          </a:prstGeom>
        </p:spPr>
      </p:pic>
      <p:sp>
        <p:nvSpPr>
          <p:cNvPr id="19" name="Text 15"/>
          <p:cNvSpPr txBox="1"/>
          <p:nvPr/>
        </p:nvSpPr>
        <p:spPr>
          <a:xfrm>
            <a:off x="7863840" y="3172968"/>
            <a:ext cx="3593592" cy="365760"/>
          </a:xfrm>
          <a:prstGeom prst="rect">
            <a:avLst/>
          </a:prstGeom>
          <a:noFill/>
          <a:ln/>
        </p:spPr>
        <p:txBody>
          <a:bodyPr wrap="square" lIns="0" tIns="0" rIns="0" bIns="0" rtlCol="0" anchor="ctr"/>
          <a:lstStyle/>
          <a:p>
            <a:pPr indent="0" marL="0">
              <a:buNone/>
            </a:pPr>
            <a:r>
              <a:rPr lang="en-US" sz="1800" b="1" dirty="0">
                <a:solidFill>
                  <a:schemeClr val="tx2"/>
                </a:solidFill>
              </a:rPr>
              <a:t>Decision tree</a:t>
            </a:r>
            <a:endParaRPr lang="en-US" sz="1800" dirty="0"/>
          </a:p>
        </p:txBody>
      </p:sp>
      <p:sp>
        <p:nvSpPr>
          <p:cNvPr id="20" name="Text 16"/>
          <p:cNvSpPr txBox="1"/>
          <p:nvPr/>
        </p:nvSpPr>
        <p:spPr>
          <a:xfrm>
            <a:off x="7863840" y="3538728"/>
            <a:ext cx="3593592" cy="731520"/>
          </a:xfrm>
          <a:prstGeom prst="rect">
            <a:avLst/>
          </a:prstGeom>
          <a:noFill/>
          <a:ln/>
        </p:spPr>
        <p:txBody>
          <a:bodyPr wrap="square" lIns="0" tIns="0" rIns="0" bIns="0" rtlCol="0" anchor="t"/>
          <a:lstStyle/>
          <a:p>
            <a:pPr indent="0" marL="0">
              <a:buNone/>
            </a:pPr>
            <a:r>
              <a:rPr lang="en-US" sz="1400" dirty="0">
                <a:solidFill>
                  <a:schemeClr val="tx1"/>
                </a:solidFill>
              </a:rPr>
              <a:t>Shows if-then thresholds between high and low scores</a:t>
            </a:r>
            <a:endParaRPr lang="en-US" sz="1400" dirty="0"/>
          </a:p>
          <a:p>
            <a:pPr indent="0" marL="0">
              <a:buNone/>
            </a:pPr>
            <a:r>
              <a:rPr lang="en-US" sz="1200" dirty="0">
                <a:solidFill>
                  <a:schemeClr val="accent6"/>
                </a:solidFill>
              </a:rPr>
              <a:t>Tuning: max_depth, min_samples_leaf</a:t>
            </a:r>
            <a:endParaRPr lang="en-US" sz="1400" dirty="0"/>
          </a:p>
        </p:txBody>
      </p:sp>
      <p:sp>
        <p:nvSpPr>
          <p:cNvPr id="21" name="Model card"/>
          <p:cNvSpPr/>
          <p:nvPr/>
        </p:nvSpPr>
        <p:spPr>
          <a:xfrm>
            <a:off x="6720840" y="4517136"/>
            <a:ext cx="4919472" cy="1298448"/>
          </a:xfrm>
          <a:prstGeom prst="roundRect">
            <a:avLst>
              <a:gd name="adj" fmla="val 5634"/>
            </a:avLst>
          </a:prstGeom>
          <a:solidFill>
            <a:schemeClr val="bg2"/>
          </a:solidFill>
          <a:ln/>
        </p:spPr>
      </p:sp>
      <p:sp>
        <p:nvSpPr>
          <p:cNvPr id="22" name="Shape 18"/>
          <p:cNvSpPr/>
          <p:nvPr/>
        </p:nvSpPr>
        <p:spPr>
          <a:xfrm>
            <a:off x="6949440" y="4818888"/>
            <a:ext cx="685800" cy="685800"/>
          </a:xfrm>
          <a:prstGeom prst="ellipse">
            <a:avLst/>
          </a:prstGeom>
          <a:solidFill>
            <a:srgbClr val="4F4C9A"/>
          </a:solidFill>
          <a:ln/>
        </p:spPr>
      </p:sp>
      <p:pic>
        <p:nvPicPr>
          <p:cNvPr id="23" name="Image 2" descr="preencoded.png">    </p:cNvPr>
          <p:cNvPicPr>
            <a:picLocks noChangeAspect="1"/>
          </p:cNvPicPr>
          <p:nvPr/>
        </p:nvPicPr>
        <p:blipFill>
          <a:blip r:embed="rId3"/>
          <a:stretch>
            <a:fillRect/>
          </a:stretch>
        </p:blipFill>
        <p:spPr>
          <a:xfrm>
            <a:off x="7114032" y="4983480"/>
            <a:ext cx="356616" cy="356616"/>
          </a:xfrm>
          <a:prstGeom prst="rect">
            <a:avLst/>
          </a:prstGeom>
        </p:spPr>
      </p:pic>
      <p:sp>
        <p:nvSpPr>
          <p:cNvPr id="24" name="Text 19"/>
          <p:cNvSpPr txBox="1"/>
          <p:nvPr/>
        </p:nvSpPr>
        <p:spPr>
          <a:xfrm>
            <a:off x="7863840" y="4654296"/>
            <a:ext cx="3593592" cy="365760"/>
          </a:xfrm>
          <a:prstGeom prst="rect">
            <a:avLst/>
          </a:prstGeom>
          <a:noFill/>
          <a:ln/>
        </p:spPr>
        <p:txBody>
          <a:bodyPr wrap="square" lIns="0" tIns="0" rIns="0" bIns="0" rtlCol="0" anchor="ctr"/>
          <a:lstStyle/>
          <a:p>
            <a:pPr indent="0" marL="0">
              <a:buNone/>
            </a:pPr>
            <a:r>
              <a:rPr lang="en-US" sz="1800" b="1" dirty="0">
                <a:solidFill>
                  <a:schemeClr val="tx2"/>
                </a:solidFill>
              </a:rPr>
              <a:t>Random forest</a:t>
            </a:r>
            <a:endParaRPr lang="en-US" sz="1800" dirty="0"/>
          </a:p>
        </p:txBody>
      </p:sp>
      <p:sp>
        <p:nvSpPr>
          <p:cNvPr id="25" name="Text 20"/>
          <p:cNvSpPr txBox="1"/>
          <p:nvPr/>
        </p:nvSpPr>
        <p:spPr>
          <a:xfrm>
            <a:off x="7863840" y="5020056"/>
            <a:ext cx="3593592" cy="731520"/>
          </a:xfrm>
          <a:prstGeom prst="rect">
            <a:avLst/>
          </a:prstGeom>
          <a:noFill/>
          <a:ln/>
        </p:spPr>
        <p:txBody>
          <a:bodyPr wrap="square" lIns="0" tIns="0" rIns="0" bIns="0" rtlCol="0" anchor="t"/>
          <a:lstStyle/>
          <a:p>
            <a:pPr indent="0" marL="0">
              <a:buNone/>
            </a:pPr>
            <a:r>
              <a:rPr lang="en-US" sz="1400" dirty="0">
                <a:solidFill>
                  <a:schemeClr val="tx1"/>
                </a:solidFill>
              </a:rPr>
              <a:t>Averages many trees to lower variance (Breiman, 2001)</a:t>
            </a:r>
            <a:endParaRPr lang="en-US" sz="1400" dirty="0"/>
          </a:p>
          <a:p>
            <a:pPr indent="0" marL="0">
              <a:buNone/>
            </a:pPr>
            <a:r>
              <a:rPr lang="en-US" sz="1200" dirty="0">
                <a:solidFill>
                  <a:schemeClr val="accent6"/>
                </a:solidFill>
              </a:rPr>
              <a:t>Tuning: n_estimators, max_depth, max_features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NGOC AN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One protocol for all three datasets</a:t>
            </a:r>
            <a:endParaRPr lang="en-US" sz="3200" dirty="0"/>
          </a:p>
        </p:txBody>
      </p:sp>
      <p:sp>
        <p:nvSpPr>
          <p:cNvPr id="5" name="RQ card"/>
          <p:cNvSpPr/>
          <p:nvPr/>
        </p:nvSpPr>
        <p:spPr>
          <a:xfrm>
            <a:off x="548640" y="1508760"/>
            <a:ext cx="5394960" cy="777240"/>
          </a:xfrm>
          <a:prstGeom prst="roundRect">
            <a:avLst>
              <a:gd name="adj" fmla="val 9412"/>
            </a:avLst>
          </a:prstGeom>
          <a:solidFill>
            <a:schemeClr val="bg2"/>
          </a:solidFill>
          <a:ln/>
        </p:spPr>
      </p:sp>
      <p:sp>
        <p:nvSpPr>
          <p:cNvPr id="6" name="Text 4"/>
          <p:cNvSpPr txBox="1"/>
          <p:nvPr/>
        </p:nvSpPr>
        <p:spPr>
          <a:xfrm>
            <a:off x="777240" y="1508760"/>
            <a:ext cx="4937760" cy="777240"/>
          </a:xfrm>
          <a:prstGeom prst="rect">
            <a:avLst/>
          </a:prstGeom>
          <a:noFill/>
          <a:ln/>
        </p:spPr>
        <p:txBody>
          <a:bodyPr wrap="square" lIns="0" tIns="0" rIns="0" bIns="0" rtlCol="0" anchor="ctr"/>
          <a:lstStyle/>
          <a:p>
            <a:pPr indent="0" marL="0">
              <a:buNone/>
            </a:pPr>
            <a:r>
              <a:rPr lang="en-US" sz="1500" b="1" dirty="0">
                <a:solidFill>
                  <a:schemeClr val="accent1"/>
                </a:solidFill>
              </a:rPr>
              <a:t>RQ1   </a:t>
            </a:r>
            <a:pPr indent="0" marL="0">
              <a:buNone/>
            </a:pPr>
            <a:r>
              <a:rPr lang="en-US" sz="1500" dirty="0">
                <a:solidFill>
                  <a:schemeClr val="tx1"/>
                </a:solidFill>
              </a:rPr>
              <a:t>Which model predicts the final score best on each dataset?</a:t>
            </a:r>
            <a:endParaRPr lang="en-US" sz="1500" dirty="0"/>
          </a:p>
        </p:txBody>
      </p:sp>
      <p:sp>
        <p:nvSpPr>
          <p:cNvPr id="7" name="RQ card"/>
          <p:cNvSpPr/>
          <p:nvPr/>
        </p:nvSpPr>
        <p:spPr>
          <a:xfrm>
            <a:off x="6245352" y="1508760"/>
            <a:ext cx="5394960" cy="777240"/>
          </a:xfrm>
          <a:prstGeom prst="roundRect">
            <a:avLst>
              <a:gd name="adj" fmla="val 9412"/>
            </a:avLst>
          </a:prstGeom>
          <a:solidFill>
            <a:schemeClr val="bg2"/>
          </a:solidFill>
          <a:ln/>
        </p:spPr>
      </p:sp>
      <p:sp>
        <p:nvSpPr>
          <p:cNvPr id="8" name="Text 6"/>
          <p:cNvSpPr txBox="1"/>
          <p:nvPr/>
        </p:nvSpPr>
        <p:spPr>
          <a:xfrm>
            <a:off x="6473952" y="1508760"/>
            <a:ext cx="4937760" cy="777240"/>
          </a:xfrm>
          <a:prstGeom prst="rect">
            <a:avLst/>
          </a:prstGeom>
          <a:noFill/>
          <a:ln/>
        </p:spPr>
        <p:txBody>
          <a:bodyPr wrap="square" lIns="0" tIns="0" rIns="0" bIns="0" rtlCol="0" anchor="ctr"/>
          <a:lstStyle/>
          <a:p>
            <a:pPr indent="0" marL="0">
              <a:buNone/>
            </a:pPr>
            <a:r>
              <a:rPr lang="en-US" sz="1500" b="1" dirty="0">
                <a:solidFill>
                  <a:schemeClr val="accent1"/>
                </a:solidFill>
              </a:rPr>
              <a:t>RQ2   </a:t>
            </a:r>
            <a:pPr indent="0" marL="0">
              <a:buNone/>
            </a:pPr>
            <a:r>
              <a:rPr lang="en-US" sz="1500" dirty="0">
                <a:solidFill>
                  <a:schemeClr val="tx1"/>
                </a:solidFill>
              </a:rPr>
              <a:t>Does the ranking change with prior grades, predictor type or sample size?</a:t>
            </a:r>
            <a:endParaRPr lang="en-US" sz="1500" dirty="0"/>
          </a:p>
        </p:txBody>
      </p:sp>
      <p:sp>
        <p:nvSpPr>
          <p:cNvPr id="9" name="Shape 7"/>
          <p:cNvSpPr/>
          <p:nvPr/>
        </p:nvSpPr>
        <p:spPr>
          <a:xfrm>
            <a:off x="548640" y="2560320"/>
            <a:ext cx="566928" cy="566928"/>
          </a:xfrm>
          <a:prstGeom prst="ellipse">
            <a:avLst/>
          </a:prstGeom>
          <a:solidFill>
            <a:schemeClr val="tx2"/>
          </a:solidFill>
          <a:ln/>
        </p:spPr>
      </p:sp>
      <p:pic>
        <p:nvPicPr>
          <p:cNvPr id="10" name="Image 0" descr="preencoded.png">    </p:cNvPr>
          <p:cNvPicPr>
            <a:picLocks noChangeAspect="1"/>
          </p:cNvPicPr>
          <p:nvPr/>
        </p:nvPicPr>
        <p:blipFill>
          <a:blip r:embed="rId1"/>
          <a:stretch>
            <a:fillRect/>
          </a:stretch>
        </p:blipFill>
        <p:spPr>
          <a:xfrm>
            <a:off x="684703" y="2696383"/>
            <a:ext cx="294803" cy="294803"/>
          </a:xfrm>
          <a:prstGeom prst="rect">
            <a:avLst/>
          </a:prstGeom>
        </p:spPr>
      </p:pic>
      <p:sp>
        <p:nvSpPr>
          <p:cNvPr id="11" name="Shape 8"/>
          <p:cNvSpPr/>
          <p:nvPr/>
        </p:nvSpPr>
        <p:spPr>
          <a:xfrm>
            <a:off x="1234440" y="2843784"/>
            <a:ext cx="2011680" cy="0"/>
          </a:xfrm>
          <a:prstGeom prst="line">
            <a:avLst/>
          </a:prstGeom>
          <a:noFill/>
          <a:ln w="15875">
            <a:solidFill>
              <a:srgbClr val="B8C7C5"/>
            </a:solidFill>
            <a:prstDash val="solid"/>
            <a:tailEnd type="triangle"/>
          </a:ln>
        </p:spPr>
      </p:sp>
      <p:sp>
        <p:nvSpPr>
          <p:cNvPr id="12" name="Text 9"/>
          <p:cNvSpPr txBox="1"/>
          <p:nvPr/>
        </p:nvSpPr>
        <p:spPr>
          <a:xfrm>
            <a:off x="548640" y="3246120"/>
            <a:ext cx="2651760" cy="320040"/>
          </a:xfrm>
          <a:prstGeom prst="rect">
            <a:avLst/>
          </a:prstGeom>
          <a:noFill/>
          <a:ln/>
        </p:spPr>
        <p:txBody>
          <a:bodyPr wrap="square" lIns="0" tIns="0" rIns="0" bIns="0" rtlCol="0" anchor="ctr"/>
          <a:lstStyle/>
          <a:p>
            <a:pPr indent="0" marL="0">
              <a:buNone/>
            </a:pPr>
            <a:r>
              <a:rPr lang="en-US" sz="1500" b="1" dirty="0">
                <a:solidFill>
                  <a:schemeClr val="tx2"/>
                </a:solidFill>
              </a:rPr>
              <a:t>1. Split 80/20</a:t>
            </a:r>
            <a:endParaRPr lang="en-US" sz="1500" dirty="0"/>
          </a:p>
        </p:txBody>
      </p:sp>
      <p:sp>
        <p:nvSpPr>
          <p:cNvPr id="13" name="Text 10"/>
          <p:cNvSpPr txBox="1"/>
          <p:nvPr/>
        </p:nvSpPr>
        <p:spPr>
          <a:xfrm>
            <a:off x="548640" y="3566160"/>
            <a:ext cx="2560320" cy="502920"/>
          </a:xfrm>
          <a:prstGeom prst="rect">
            <a:avLst/>
          </a:prstGeom>
          <a:noFill/>
          <a:ln/>
        </p:spPr>
        <p:txBody>
          <a:bodyPr wrap="square" lIns="0" tIns="0" rIns="0" bIns="0" rtlCol="0" anchor="t"/>
          <a:lstStyle/>
          <a:p>
            <a:pPr indent="0" marL="0">
              <a:buNone/>
            </a:pPr>
            <a:r>
              <a:rPr lang="en-US" sz="1300" dirty="0">
                <a:solidFill>
                  <a:schemeClr val="accent6"/>
                </a:solidFill>
              </a:rPr>
              <a:t>random_state = 42; test set kept aside</a:t>
            </a:r>
            <a:endParaRPr lang="en-US" sz="1300" dirty="0"/>
          </a:p>
        </p:txBody>
      </p:sp>
      <p:sp>
        <p:nvSpPr>
          <p:cNvPr id="14" name="Shape 11"/>
          <p:cNvSpPr/>
          <p:nvPr/>
        </p:nvSpPr>
        <p:spPr>
          <a:xfrm>
            <a:off x="3364992" y="2560320"/>
            <a:ext cx="566928" cy="566928"/>
          </a:xfrm>
          <a:prstGeom prst="ellipse">
            <a:avLst/>
          </a:prstGeom>
          <a:solidFill>
            <a:schemeClr val="tx2"/>
          </a:solidFill>
          <a:ln/>
        </p:spPr>
      </p:sp>
      <p:pic>
        <p:nvPicPr>
          <p:cNvPr id="15" name="Image 1" descr="preencoded.png">    </p:cNvPr>
          <p:cNvPicPr>
            <a:picLocks noChangeAspect="1"/>
          </p:cNvPicPr>
          <p:nvPr/>
        </p:nvPicPr>
        <p:blipFill>
          <a:blip r:embed="rId2"/>
          <a:stretch>
            <a:fillRect/>
          </a:stretch>
        </p:blipFill>
        <p:spPr>
          <a:xfrm>
            <a:off x="3501055" y="2696383"/>
            <a:ext cx="294803" cy="294803"/>
          </a:xfrm>
          <a:prstGeom prst="rect">
            <a:avLst/>
          </a:prstGeom>
        </p:spPr>
      </p:pic>
      <p:sp>
        <p:nvSpPr>
          <p:cNvPr id="16" name="Shape 12"/>
          <p:cNvSpPr/>
          <p:nvPr/>
        </p:nvSpPr>
        <p:spPr>
          <a:xfrm>
            <a:off x="4050792" y="2843784"/>
            <a:ext cx="2011680" cy="0"/>
          </a:xfrm>
          <a:prstGeom prst="line">
            <a:avLst/>
          </a:prstGeom>
          <a:noFill/>
          <a:ln w="15875">
            <a:solidFill>
              <a:srgbClr val="B8C7C5"/>
            </a:solidFill>
            <a:prstDash val="solid"/>
            <a:tailEnd type="triangle"/>
          </a:ln>
        </p:spPr>
      </p:sp>
      <p:sp>
        <p:nvSpPr>
          <p:cNvPr id="17" name="Text 13"/>
          <p:cNvSpPr txBox="1"/>
          <p:nvPr/>
        </p:nvSpPr>
        <p:spPr>
          <a:xfrm>
            <a:off x="3364992" y="3246120"/>
            <a:ext cx="2651760" cy="320040"/>
          </a:xfrm>
          <a:prstGeom prst="rect">
            <a:avLst/>
          </a:prstGeom>
          <a:noFill/>
          <a:ln/>
        </p:spPr>
        <p:txBody>
          <a:bodyPr wrap="square" lIns="0" tIns="0" rIns="0" bIns="0" rtlCol="0" anchor="ctr"/>
          <a:lstStyle/>
          <a:p>
            <a:pPr indent="0" marL="0">
              <a:buNone/>
            </a:pPr>
            <a:r>
              <a:rPr lang="en-US" sz="1500" b="1" dirty="0">
                <a:solidFill>
                  <a:schemeClr val="tx2"/>
                </a:solidFill>
              </a:rPr>
              <a:t>2. Tune with 5-fold CV</a:t>
            </a:r>
            <a:endParaRPr lang="en-US" sz="1500" dirty="0"/>
          </a:p>
        </p:txBody>
      </p:sp>
      <p:sp>
        <p:nvSpPr>
          <p:cNvPr id="18" name="Text 14"/>
          <p:cNvSpPr txBox="1"/>
          <p:nvPr/>
        </p:nvSpPr>
        <p:spPr>
          <a:xfrm>
            <a:off x="3364992" y="3566160"/>
            <a:ext cx="2560320" cy="502920"/>
          </a:xfrm>
          <a:prstGeom prst="rect">
            <a:avLst/>
          </a:prstGeom>
          <a:noFill/>
          <a:ln/>
        </p:spPr>
        <p:txBody>
          <a:bodyPr wrap="square" lIns="0" tIns="0" rIns="0" bIns="0" rtlCol="0" anchor="t"/>
          <a:lstStyle/>
          <a:p>
            <a:pPr indent="0" marL="0">
              <a:buNone/>
            </a:pPr>
            <a:r>
              <a:rPr lang="en-US" sz="1300" dirty="0">
                <a:solidFill>
                  <a:schemeClr val="accent6"/>
                </a:solidFill>
              </a:rPr>
              <a:t>GridSearchCV on the training set, scored by R²</a:t>
            </a:r>
            <a:endParaRPr lang="en-US" sz="1300" dirty="0"/>
          </a:p>
        </p:txBody>
      </p:sp>
      <p:sp>
        <p:nvSpPr>
          <p:cNvPr id="19" name="Shape 15"/>
          <p:cNvSpPr/>
          <p:nvPr/>
        </p:nvSpPr>
        <p:spPr>
          <a:xfrm>
            <a:off x="6181344" y="2560320"/>
            <a:ext cx="566928" cy="566928"/>
          </a:xfrm>
          <a:prstGeom prst="ellipse">
            <a:avLst/>
          </a:prstGeom>
          <a:solidFill>
            <a:schemeClr val="tx2"/>
          </a:solidFill>
          <a:ln/>
        </p:spPr>
      </p:sp>
      <p:pic>
        <p:nvPicPr>
          <p:cNvPr id="20" name="Image 2" descr="preencoded.png">    </p:cNvPr>
          <p:cNvPicPr>
            <a:picLocks noChangeAspect="1"/>
          </p:cNvPicPr>
          <p:nvPr/>
        </p:nvPicPr>
        <p:blipFill>
          <a:blip r:embed="rId3"/>
          <a:stretch>
            <a:fillRect/>
          </a:stretch>
        </p:blipFill>
        <p:spPr>
          <a:xfrm>
            <a:off x="6317407" y="2696383"/>
            <a:ext cx="294803" cy="294803"/>
          </a:xfrm>
          <a:prstGeom prst="rect">
            <a:avLst/>
          </a:prstGeom>
        </p:spPr>
      </p:pic>
      <p:sp>
        <p:nvSpPr>
          <p:cNvPr id="21" name="Shape 16"/>
          <p:cNvSpPr/>
          <p:nvPr/>
        </p:nvSpPr>
        <p:spPr>
          <a:xfrm>
            <a:off x="6867144" y="2843784"/>
            <a:ext cx="2011680" cy="0"/>
          </a:xfrm>
          <a:prstGeom prst="line">
            <a:avLst/>
          </a:prstGeom>
          <a:noFill/>
          <a:ln w="15875">
            <a:solidFill>
              <a:srgbClr val="B8C7C5"/>
            </a:solidFill>
            <a:prstDash val="solid"/>
            <a:tailEnd type="triangle"/>
          </a:ln>
        </p:spPr>
      </p:sp>
      <p:sp>
        <p:nvSpPr>
          <p:cNvPr id="22" name="Text 17"/>
          <p:cNvSpPr txBox="1"/>
          <p:nvPr/>
        </p:nvSpPr>
        <p:spPr>
          <a:xfrm>
            <a:off x="6181344" y="3246120"/>
            <a:ext cx="2651760" cy="320040"/>
          </a:xfrm>
          <a:prstGeom prst="rect">
            <a:avLst/>
          </a:prstGeom>
          <a:noFill/>
          <a:ln/>
        </p:spPr>
        <p:txBody>
          <a:bodyPr wrap="square" lIns="0" tIns="0" rIns="0" bIns="0" rtlCol="0" anchor="ctr"/>
          <a:lstStyle/>
          <a:p>
            <a:pPr indent="0" marL="0">
              <a:buNone/>
            </a:pPr>
            <a:r>
              <a:rPr lang="en-US" sz="1500" b="1" dirty="0">
                <a:solidFill>
                  <a:schemeClr val="tx2"/>
                </a:solidFill>
              </a:rPr>
              <a:t>3. Refit on training set</a:t>
            </a:r>
            <a:endParaRPr lang="en-US" sz="1500" dirty="0"/>
          </a:p>
        </p:txBody>
      </p:sp>
      <p:sp>
        <p:nvSpPr>
          <p:cNvPr id="23" name="Text 18"/>
          <p:cNvSpPr txBox="1"/>
          <p:nvPr/>
        </p:nvSpPr>
        <p:spPr>
          <a:xfrm>
            <a:off x="6181344" y="3566160"/>
            <a:ext cx="2560320" cy="502920"/>
          </a:xfrm>
          <a:prstGeom prst="rect">
            <a:avLst/>
          </a:prstGeom>
          <a:noFill/>
          <a:ln/>
        </p:spPr>
        <p:txBody>
          <a:bodyPr wrap="square" lIns="0" tIns="0" rIns="0" bIns="0" rtlCol="0" anchor="t"/>
          <a:lstStyle/>
          <a:p>
            <a:pPr indent="0" marL="0">
              <a:buNone/>
            </a:pPr>
            <a:r>
              <a:rPr lang="en-US" sz="1300" dirty="0">
                <a:solidFill>
                  <a:schemeClr val="accent6"/>
                </a:solidFill>
              </a:rPr>
              <a:t>Encoding and scaling inside a Pipeline</a:t>
            </a:r>
            <a:endParaRPr lang="en-US" sz="1300" dirty="0"/>
          </a:p>
        </p:txBody>
      </p:sp>
      <p:sp>
        <p:nvSpPr>
          <p:cNvPr id="24" name="Shape 19"/>
          <p:cNvSpPr/>
          <p:nvPr/>
        </p:nvSpPr>
        <p:spPr>
          <a:xfrm>
            <a:off x="8997696" y="2560320"/>
            <a:ext cx="566928" cy="566928"/>
          </a:xfrm>
          <a:prstGeom prst="ellipse">
            <a:avLst/>
          </a:prstGeom>
          <a:solidFill>
            <a:schemeClr val="tx2"/>
          </a:solidFill>
          <a:ln/>
        </p:spPr>
      </p:sp>
      <p:pic>
        <p:nvPicPr>
          <p:cNvPr id="25" name="Image 3" descr="preencoded.png">    </p:cNvPr>
          <p:cNvPicPr>
            <a:picLocks noChangeAspect="1"/>
          </p:cNvPicPr>
          <p:nvPr/>
        </p:nvPicPr>
        <p:blipFill>
          <a:blip r:embed="rId4"/>
          <a:stretch>
            <a:fillRect/>
          </a:stretch>
        </p:blipFill>
        <p:spPr>
          <a:xfrm>
            <a:off x="9133759" y="2696383"/>
            <a:ext cx="294803" cy="294803"/>
          </a:xfrm>
          <a:prstGeom prst="rect">
            <a:avLst/>
          </a:prstGeom>
        </p:spPr>
      </p:pic>
      <p:sp>
        <p:nvSpPr>
          <p:cNvPr id="26" name="Text 20"/>
          <p:cNvSpPr txBox="1"/>
          <p:nvPr/>
        </p:nvSpPr>
        <p:spPr>
          <a:xfrm>
            <a:off x="8997696" y="3246120"/>
            <a:ext cx="2651760" cy="320040"/>
          </a:xfrm>
          <a:prstGeom prst="rect">
            <a:avLst/>
          </a:prstGeom>
          <a:noFill/>
          <a:ln/>
        </p:spPr>
        <p:txBody>
          <a:bodyPr wrap="square" lIns="0" tIns="0" rIns="0" bIns="0" rtlCol="0" anchor="ctr"/>
          <a:lstStyle/>
          <a:p>
            <a:pPr indent="0" marL="0">
              <a:buNone/>
            </a:pPr>
            <a:r>
              <a:rPr lang="en-US" sz="1500" b="1" dirty="0">
                <a:solidFill>
                  <a:schemeClr val="tx2"/>
                </a:solidFill>
              </a:rPr>
              <a:t>4. Test once</a:t>
            </a:r>
            <a:endParaRPr lang="en-US" sz="1500" dirty="0"/>
          </a:p>
        </p:txBody>
      </p:sp>
      <p:sp>
        <p:nvSpPr>
          <p:cNvPr id="27" name="Text 21"/>
          <p:cNvSpPr txBox="1"/>
          <p:nvPr/>
        </p:nvSpPr>
        <p:spPr>
          <a:xfrm>
            <a:off x="8997696" y="3566160"/>
            <a:ext cx="2560320" cy="502920"/>
          </a:xfrm>
          <a:prstGeom prst="rect">
            <a:avLst/>
          </a:prstGeom>
          <a:noFill/>
          <a:ln/>
        </p:spPr>
        <p:txBody>
          <a:bodyPr wrap="square" lIns="0" tIns="0" rIns="0" bIns="0" rtlCol="0" anchor="t"/>
          <a:lstStyle/>
          <a:p>
            <a:pPr indent="0" marL="0">
              <a:buNone/>
            </a:pPr>
            <a:r>
              <a:rPr lang="en-US" sz="1300" dirty="0">
                <a:solidFill>
                  <a:schemeClr val="accent6"/>
                </a:solidFill>
              </a:rPr>
              <a:t>R², MAE, RMSE and RMSE / SD</a:t>
            </a:r>
            <a:endParaRPr lang="en-US" sz="1300" dirty="0"/>
          </a:p>
        </p:txBody>
      </p:sp>
      <p:sp>
        <p:nvSpPr>
          <p:cNvPr id="28" name="Hypothesis card"/>
          <p:cNvSpPr/>
          <p:nvPr/>
        </p:nvSpPr>
        <p:spPr>
          <a:xfrm>
            <a:off x="548640" y="4297680"/>
            <a:ext cx="3502152" cy="1097280"/>
          </a:xfrm>
          <a:prstGeom prst="roundRect">
            <a:avLst>
              <a:gd name="adj" fmla="val 6667"/>
            </a:avLst>
          </a:prstGeom>
          <a:solidFill>
            <a:schemeClr val="bg2"/>
          </a:solidFill>
          <a:ln/>
        </p:spPr>
      </p:sp>
      <p:sp>
        <p:nvSpPr>
          <p:cNvPr id="29" name="Shape 23"/>
          <p:cNvSpPr/>
          <p:nvPr/>
        </p:nvSpPr>
        <p:spPr>
          <a:xfrm>
            <a:off x="731520" y="4480560"/>
            <a:ext cx="502920" cy="502920"/>
          </a:xfrm>
          <a:prstGeom prst="ellipse">
            <a:avLst/>
          </a:prstGeom>
          <a:solidFill>
            <a:schemeClr val="accent1"/>
          </a:solidFill>
          <a:ln/>
        </p:spPr>
      </p:sp>
      <p:sp>
        <p:nvSpPr>
          <p:cNvPr id="30" name="Text 24"/>
          <p:cNvSpPr txBox="1"/>
          <p:nvPr/>
        </p:nvSpPr>
        <p:spPr>
          <a:xfrm>
            <a:off x="731520" y="44805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H1</a:t>
            </a:r>
            <a:endParaRPr lang="en-US" sz="1300" dirty="0"/>
          </a:p>
        </p:txBody>
      </p:sp>
      <p:sp>
        <p:nvSpPr>
          <p:cNvPr id="31" name="Text 25"/>
          <p:cNvSpPr txBox="1"/>
          <p:nvPr/>
        </p:nvSpPr>
        <p:spPr>
          <a:xfrm>
            <a:off x="1371600" y="4462272"/>
            <a:ext cx="2496312" cy="822960"/>
          </a:xfrm>
          <a:prstGeom prst="rect">
            <a:avLst/>
          </a:prstGeom>
          <a:noFill/>
          <a:ln/>
        </p:spPr>
        <p:txBody>
          <a:bodyPr wrap="square" lIns="0" tIns="0" rIns="0" bIns="0" rtlCol="0" anchor="t"/>
          <a:lstStyle/>
          <a:p>
            <a:pPr indent="0" marL="0">
              <a:buNone/>
            </a:pPr>
            <a:r>
              <a:rPr lang="en-US" sz="1300" dirty="0">
                <a:solidFill>
                  <a:schemeClr val="tx1"/>
                </a:solidFill>
              </a:rPr>
              <a:t>Random forest has the highest test R² on most datasets.</a:t>
            </a:r>
            <a:endParaRPr lang="en-US" sz="1300" dirty="0"/>
          </a:p>
        </p:txBody>
      </p:sp>
      <p:sp>
        <p:nvSpPr>
          <p:cNvPr id="32" name="Hypothesis card"/>
          <p:cNvSpPr/>
          <p:nvPr/>
        </p:nvSpPr>
        <p:spPr>
          <a:xfrm>
            <a:off x="4343400" y="4297680"/>
            <a:ext cx="3502152" cy="1097280"/>
          </a:xfrm>
          <a:prstGeom prst="roundRect">
            <a:avLst>
              <a:gd name="adj" fmla="val 6667"/>
            </a:avLst>
          </a:prstGeom>
          <a:solidFill>
            <a:schemeClr val="bg2"/>
          </a:solidFill>
          <a:ln/>
        </p:spPr>
      </p:sp>
      <p:sp>
        <p:nvSpPr>
          <p:cNvPr id="33" name="Shape 27"/>
          <p:cNvSpPr/>
          <p:nvPr/>
        </p:nvSpPr>
        <p:spPr>
          <a:xfrm>
            <a:off x="4526280" y="4480560"/>
            <a:ext cx="502920" cy="502920"/>
          </a:xfrm>
          <a:prstGeom prst="ellipse">
            <a:avLst/>
          </a:prstGeom>
          <a:solidFill>
            <a:schemeClr val="accent1"/>
          </a:solidFill>
          <a:ln/>
        </p:spPr>
      </p:sp>
      <p:sp>
        <p:nvSpPr>
          <p:cNvPr id="34" name="Text 28"/>
          <p:cNvSpPr txBox="1"/>
          <p:nvPr/>
        </p:nvSpPr>
        <p:spPr>
          <a:xfrm>
            <a:off x="4526280" y="44805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H2</a:t>
            </a:r>
            <a:endParaRPr lang="en-US" sz="1300" dirty="0"/>
          </a:p>
        </p:txBody>
      </p:sp>
      <p:sp>
        <p:nvSpPr>
          <p:cNvPr id="35" name="Text 29"/>
          <p:cNvSpPr txBox="1"/>
          <p:nvPr/>
        </p:nvSpPr>
        <p:spPr>
          <a:xfrm>
            <a:off x="5166360" y="4462272"/>
            <a:ext cx="2496312" cy="822960"/>
          </a:xfrm>
          <a:prstGeom prst="rect">
            <a:avLst/>
          </a:prstGeom>
          <a:noFill/>
          <a:ln/>
        </p:spPr>
        <p:txBody>
          <a:bodyPr wrap="square" lIns="0" tIns="0" rIns="0" bIns="0" rtlCol="0" anchor="t"/>
          <a:lstStyle/>
          <a:p>
            <a:pPr indent="0" marL="0">
              <a:buNone/>
            </a:pPr>
            <a:r>
              <a:rPr lang="en-US" sz="1300" dirty="0">
                <a:solidFill>
                  <a:schemeClr val="tx1"/>
                </a:solidFill>
              </a:rPr>
              <a:t>Linear regression is within 1 SD of random forest on Ngoc An's data with G1, G2 (G2 to G3: r = 0.905).</a:t>
            </a:r>
            <a:endParaRPr lang="en-US" sz="1300" dirty="0"/>
          </a:p>
        </p:txBody>
      </p:sp>
      <p:sp>
        <p:nvSpPr>
          <p:cNvPr id="36" name="Hypothesis card"/>
          <p:cNvSpPr/>
          <p:nvPr/>
        </p:nvSpPr>
        <p:spPr>
          <a:xfrm>
            <a:off x="8138160" y="4297680"/>
            <a:ext cx="3502152" cy="1097280"/>
          </a:xfrm>
          <a:prstGeom prst="roundRect">
            <a:avLst>
              <a:gd name="adj" fmla="val 6667"/>
            </a:avLst>
          </a:prstGeom>
          <a:solidFill>
            <a:schemeClr val="bg2"/>
          </a:solidFill>
          <a:ln/>
        </p:spPr>
      </p:sp>
      <p:sp>
        <p:nvSpPr>
          <p:cNvPr id="37" name="Shape 31"/>
          <p:cNvSpPr/>
          <p:nvPr/>
        </p:nvSpPr>
        <p:spPr>
          <a:xfrm>
            <a:off x="8321040" y="4480560"/>
            <a:ext cx="502920" cy="502920"/>
          </a:xfrm>
          <a:prstGeom prst="ellipse">
            <a:avLst/>
          </a:prstGeom>
          <a:solidFill>
            <a:schemeClr val="accent1"/>
          </a:solidFill>
          <a:ln/>
        </p:spPr>
      </p:sp>
      <p:sp>
        <p:nvSpPr>
          <p:cNvPr id="38" name="Text 32"/>
          <p:cNvSpPr txBox="1"/>
          <p:nvPr/>
        </p:nvSpPr>
        <p:spPr>
          <a:xfrm>
            <a:off x="8321040" y="44805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H3</a:t>
            </a:r>
            <a:endParaRPr lang="en-US" sz="1300" dirty="0"/>
          </a:p>
        </p:txBody>
      </p:sp>
      <p:sp>
        <p:nvSpPr>
          <p:cNvPr id="39" name="Text 33"/>
          <p:cNvSpPr txBox="1"/>
          <p:nvPr/>
        </p:nvSpPr>
        <p:spPr>
          <a:xfrm>
            <a:off x="8961120" y="4462272"/>
            <a:ext cx="2496312" cy="822960"/>
          </a:xfrm>
          <a:prstGeom prst="rect">
            <a:avLst/>
          </a:prstGeom>
          <a:noFill/>
          <a:ln/>
        </p:spPr>
        <p:txBody>
          <a:bodyPr wrap="square" lIns="0" tIns="0" rIns="0" bIns="0" rtlCol="0" anchor="t"/>
          <a:lstStyle/>
          <a:p>
            <a:pPr indent="0" marL="0">
              <a:buNone/>
            </a:pPr>
            <a:r>
              <a:rPr lang="en-US" sz="1300" dirty="0">
                <a:solidFill>
                  <a:schemeClr val="tx1"/>
                </a:solidFill>
              </a:rPr>
              <a:t>All three models score lowest on the demographic dataset.</a:t>
            </a:r>
            <a:endParaRPr lang="en-US" sz="1300" dirty="0"/>
          </a:p>
        </p:txBody>
      </p:sp>
      <p:sp>
        <p:nvSpPr>
          <p:cNvPr id="40" name="Text 34"/>
          <p:cNvSpPr txBox="1"/>
          <p:nvPr/>
        </p:nvSpPr>
        <p:spPr>
          <a:xfrm>
            <a:off x="548640" y="5623560"/>
            <a:ext cx="11094415" cy="365760"/>
          </a:xfrm>
          <a:prstGeom prst="rect">
            <a:avLst/>
          </a:prstGeom>
          <a:noFill/>
          <a:ln/>
        </p:spPr>
        <p:txBody>
          <a:bodyPr wrap="square" lIns="0" tIns="0" rIns="0" bIns="0" rtlCol="0" anchor="ctr"/>
          <a:lstStyle/>
          <a:p>
            <a:pPr indent="0" marL="0">
              <a:buNone/>
            </a:pPr>
            <a:r>
              <a:rPr lang="en-US" sz="1400" i="1" dirty="0">
                <a:solidFill>
                  <a:schemeClr val="accent6"/>
                </a:solidFill>
              </a:rPr>
              <a:t>Tie rule: a cross-validated R² gap smaller than one fold SD counts as a tie.</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NGOC AN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Ngoc An: earlier grades, with and without</a:t>
            </a:r>
            <a:endParaRPr lang="en-US" sz="3200" dirty="0"/>
          </a:p>
        </p:txBody>
      </p:sp>
      <p:sp>
        <p:nvSpPr>
          <p:cNvPr id="5" name="Stat tile"/>
          <p:cNvSpPr/>
          <p:nvPr/>
        </p:nvSpPr>
        <p:spPr>
          <a:xfrm>
            <a:off x="548640" y="1554480"/>
            <a:ext cx="1737360" cy="1417320"/>
          </a:xfrm>
          <a:prstGeom prst="roundRect">
            <a:avLst>
              <a:gd name="adj" fmla="val 5161"/>
            </a:avLst>
          </a:prstGeom>
          <a:solidFill>
            <a:schemeClr val="bg2"/>
          </a:solidFill>
          <a:ln/>
        </p:spPr>
      </p:sp>
      <p:sp>
        <p:nvSpPr>
          <p:cNvPr id="6" name="Text 4"/>
          <p:cNvSpPr txBox="1"/>
          <p:nvPr/>
        </p:nvSpPr>
        <p:spPr>
          <a:xfrm>
            <a:off x="731520" y="1691640"/>
            <a:ext cx="13716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395</a:t>
            </a:r>
            <a:endParaRPr lang="en-US" sz="3000" dirty="0"/>
          </a:p>
        </p:txBody>
      </p:sp>
      <p:sp>
        <p:nvSpPr>
          <p:cNvPr id="7" name="Text 5"/>
          <p:cNvSpPr txBox="1"/>
          <p:nvPr/>
        </p:nvSpPr>
        <p:spPr>
          <a:xfrm>
            <a:off x="731520" y="23042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students</a:t>
            </a:r>
            <a:endParaRPr lang="en-US" sz="1300" dirty="0"/>
          </a:p>
        </p:txBody>
      </p:sp>
      <p:sp>
        <p:nvSpPr>
          <p:cNvPr id="8" name="Stat tile"/>
          <p:cNvSpPr/>
          <p:nvPr/>
        </p:nvSpPr>
        <p:spPr>
          <a:xfrm>
            <a:off x="2423160" y="1554480"/>
            <a:ext cx="1737360" cy="1417320"/>
          </a:xfrm>
          <a:prstGeom prst="roundRect">
            <a:avLst>
              <a:gd name="adj" fmla="val 5161"/>
            </a:avLst>
          </a:prstGeom>
          <a:solidFill>
            <a:schemeClr val="bg2"/>
          </a:solidFill>
          <a:ln/>
        </p:spPr>
      </p:sp>
      <p:sp>
        <p:nvSpPr>
          <p:cNvPr id="9" name="Text 7"/>
          <p:cNvSpPr txBox="1"/>
          <p:nvPr/>
        </p:nvSpPr>
        <p:spPr>
          <a:xfrm>
            <a:off x="2606040" y="1691640"/>
            <a:ext cx="13716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33</a:t>
            </a:r>
            <a:endParaRPr lang="en-US" sz="3000" dirty="0"/>
          </a:p>
        </p:txBody>
      </p:sp>
      <p:sp>
        <p:nvSpPr>
          <p:cNvPr id="10" name="Text 8"/>
          <p:cNvSpPr txBox="1"/>
          <p:nvPr/>
        </p:nvSpPr>
        <p:spPr>
          <a:xfrm>
            <a:off x="2606040" y="23042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variables</a:t>
            </a:r>
            <a:endParaRPr lang="en-US" sz="1300" dirty="0"/>
          </a:p>
        </p:txBody>
      </p:sp>
      <p:sp>
        <p:nvSpPr>
          <p:cNvPr id="11" name="Stat tile"/>
          <p:cNvSpPr/>
          <p:nvPr/>
        </p:nvSpPr>
        <p:spPr>
          <a:xfrm>
            <a:off x="548640" y="3154680"/>
            <a:ext cx="1737360" cy="1417320"/>
          </a:xfrm>
          <a:prstGeom prst="roundRect">
            <a:avLst>
              <a:gd name="adj" fmla="val 5161"/>
            </a:avLst>
          </a:prstGeom>
          <a:solidFill>
            <a:schemeClr val="bg2"/>
          </a:solidFill>
          <a:ln/>
        </p:spPr>
      </p:sp>
      <p:sp>
        <p:nvSpPr>
          <p:cNvPr id="12" name="Text 10"/>
          <p:cNvSpPr txBox="1"/>
          <p:nvPr/>
        </p:nvSpPr>
        <p:spPr>
          <a:xfrm>
            <a:off x="731520" y="3291840"/>
            <a:ext cx="13716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G3</a:t>
            </a:r>
            <a:endParaRPr lang="en-US" sz="3000" dirty="0"/>
          </a:p>
        </p:txBody>
      </p:sp>
      <p:sp>
        <p:nvSpPr>
          <p:cNvPr id="13" name="Text 11"/>
          <p:cNvSpPr txBox="1"/>
          <p:nvPr/>
        </p:nvSpPr>
        <p:spPr>
          <a:xfrm>
            <a:off x="731520" y="39044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final maths grade, 0 to 20</a:t>
            </a:r>
            <a:endParaRPr lang="en-US" sz="1300" dirty="0"/>
          </a:p>
        </p:txBody>
      </p:sp>
      <p:sp>
        <p:nvSpPr>
          <p:cNvPr id="14" name="Stat tile"/>
          <p:cNvSpPr/>
          <p:nvPr/>
        </p:nvSpPr>
        <p:spPr>
          <a:xfrm>
            <a:off x="2423160" y="3154680"/>
            <a:ext cx="1737360" cy="1417320"/>
          </a:xfrm>
          <a:prstGeom prst="roundRect">
            <a:avLst>
              <a:gd name="adj" fmla="val 5161"/>
            </a:avLst>
          </a:prstGeom>
          <a:solidFill>
            <a:schemeClr val="bg2"/>
          </a:solidFill>
          <a:ln/>
        </p:spPr>
      </p:sp>
      <p:sp>
        <p:nvSpPr>
          <p:cNvPr id="15" name="Text 13"/>
          <p:cNvSpPr txBox="1"/>
          <p:nvPr/>
        </p:nvSpPr>
        <p:spPr>
          <a:xfrm>
            <a:off x="2606040" y="3291840"/>
            <a:ext cx="13716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80 / 20</a:t>
            </a:r>
            <a:endParaRPr lang="en-US" sz="3000" dirty="0"/>
          </a:p>
        </p:txBody>
      </p:sp>
      <p:sp>
        <p:nvSpPr>
          <p:cNvPr id="16" name="Text 14"/>
          <p:cNvSpPr txBox="1"/>
          <p:nvPr/>
        </p:nvSpPr>
        <p:spPr>
          <a:xfrm>
            <a:off x="2606040" y="39044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split: 316 train, 79 test students</a:t>
            </a:r>
            <a:endParaRPr lang="en-US" sz="1300" dirty="0"/>
          </a:p>
        </p:txBody>
      </p:sp>
      <p:sp>
        <p:nvSpPr>
          <p:cNvPr id="17" name="Scenario card"/>
          <p:cNvSpPr/>
          <p:nvPr/>
        </p:nvSpPr>
        <p:spPr>
          <a:xfrm>
            <a:off x="4526280" y="1554480"/>
            <a:ext cx="3410712" cy="2057400"/>
          </a:xfrm>
          <a:prstGeom prst="roundRect">
            <a:avLst>
              <a:gd name="adj" fmla="val 3556"/>
            </a:avLst>
          </a:prstGeom>
          <a:solidFill>
            <a:schemeClr val="bg2"/>
          </a:solidFill>
          <a:ln/>
        </p:spPr>
      </p:sp>
      <p:sp>
        <p:nvSpPr>
          <p:cNvPr id="18" name="Text 16"/>
          <p:cNvSpPr txBox="1"/>
          <p:nvPr/>
        </p:nvSpPr>
        <p:spPr>
          <a:xfrm>
            <a:off x="4754880" y="1719072"/>
            <a:ext cx="2953512" cy="365760"/>
          </a:xfrm>
          <a:prstGeom prst="rect">
            <a:avLst/>
          </a:prstGeom>
          <a:noFill/>
          <a:ln/>
        </p:spPr>
        <p:txBody>
          <a:bodyPr wrap="square" lIns="0" tIns="0" rIns="0" bIns="0" rtlCol="0" anchor="ctr"/>
          <a:lstStyle/>
          <a:p>
            <a:pPr indent="0" marL="0">
              <a:buNone/>
            </a:pPr>
            <a:r>
              <a:rPr lang="en-US" sz="1500" b="1" dirty="0">
                <a:solidFill>
                  <a:schemeClr val="tx2"/>
                </a:solidFill>
              </a:rPr>
              <a:t>Scenario A: with G1 and G2</a:t>
            </a:r>
            <a:endParaRPr lang="en-US" sz="1500" dirty="0"/>
          </a:p>
        </p:txBody>
      </p:sp>
      <p:sp>
        <p:nvSpPr>
          <p:cNvPr id="19" name="Text 17"/>
          <p:cNvSpPr txBox="1"/>
          <p:nvPr/>
        </p:nvSpPr>
        <p:spPr>
          <a:xfrm>
            <a:off x="4754880" y="2103120"/>
            <a:ext cx="2953512" cy="548640"/>
          </a:xfrm>
          <a:prstGeom prst="rect">
            <a:avLst/>
          </a:prstGeom>
          <a:noFill/>
          <a:ln/>
        </p:spPr>
        <p:txBody>
          <a:bodyPr wrap="square" lIns="0" tIns="0" rIns="0" bIns="0" rtlCol="0" anchor="t"/>
          <a:lstStyle/>
          <a:p>
            <a:pPr indent="0" marL="0">
              <a:buNone/>
            </a:pPr>
            <a:r>
              <a:rPr lang="en-US" sz="1300" dirty="0">
                <a:solidFill>
                  <a:schemeClr val="tx1"/>
                </a:solidFill>
              </a:rPr>
              <a:t>Earlier period grades included</a:t>
            </a:r>
            <a:endParaRPr lang="en-US" sz="1300" dirty="0"/>
          </a:p>
        </p:txBody>
      </p:sp>
      <p:sp>
        <p:nvSpPr>
          <p:cNvPr id="20" name="Text 18"/>
          <p:cNvSpPr txBox="1"/>
          <p:nvPr/>
        </p:nvSpPr>
        <p:spPr>
          <a:xfrm>
            <a:off x="4754880" y="2743200"/>
            <a:ext cx="2953512" cy="731520"/>
          </a:xfrm>
          <a:prstGeom prst="rect">
            <a:avLst/>
          </a:prstGeom>
          <a:noFill/>
          <a:ln/>
        </p:spPr>
        <p:txBody>
          <a:bodyPr wrap="square" lIns="0" tIns="0" rIns="0" bIns="0" rtlCol="0" anchor="t"/>
          <a:lstStyle/>
          <a:p>
            <a:pPr indent="0" marL="0">
              <a:buNone/>
            </a:pPr>
            <a:r>
              <a:rPr lang="en-US" sz="1200" dirty="0">
                <a:solidFill>
                  <a:schemeClr val="accent6"/>
                </a:solidFill>
              </a:rPr>
              <a:t>Tree: depth 5, leaf 5</a:t>
            </a:r>
            <a:endParaRPr lang="en-US" sz="1200" dirty="0"/>
          </a:p>
          <a:p>
            <a:pPr indent="0" marL="0">
              <a:buNone/>
            </a:pPr>
            <a:r>
              <a:rPr lang="en-US" sz="1200" dirty="0">
                <a:solidFill>
                  <a:schemeClr val="accent6"/>
                </a:solidFill>
              </a:rPr>
              <a:t>Forest: 300 trees, depth 10, 0.5 features</a:t>
            </a:r>
            <a:endParaRPr lang="en-US" sz="1200" dirty="0"/>
          </a:p>
        </p:txBody>
      </p:sp>
      <p:sp>
        <p:nvSpPr>
          <p:cNvPr id="21" name="Scenario card"/>
          <p:cNvSpPr/>
          <p:nvPr/>
        </p:nvSpPr>
        <p:spPr>
          <a:xfrm>
            <a:off x="8229600" y="1554480"/>
            <a:ext cx="3410712" cy="2057400"/>
          </a:xfrm>
          <a:prstGeom prst="roundRect">
            <a:avLst>
              <a:gd name="adj" fmla="val 3556"/>
            </a:avLst>
          </a:prstGeom>
          <a:solidFill>
            <a:schemeClr val="bg2"/>
          </a:solidFill>
          <a:ln/>
        </p:spPr>
      </p:sp>
      <p:sp>
        <p:nvSpPr>
          <p:cNvPr id="22" name="Text 20"/>
          <p:cNvSpPr txBox="1"/>
          <p:nvPr/>
        </p:nvSpPr>
        <p:spPr>
          <a:xfrm>
            <a:off x="8458200" y="1719072"/>
            <a:ext cx="2953512" cy="365760"/>
          </a:xfrm>
          <a:prstGeom prst="rect">
            <a:avLst/>
          </a:prstGeom>
          <a:noFill/>
          <a:ln/>
        </p:spPr>
        <p:txBody>
          <a:bodyPr wrap="square" lIns="0" tIns="0" rIns="0" bIns="0" rtlCol="0" anchor="ctr"/>
          <a:lstStyle/>
          <a:p>
            <a:pPr indent="0" marL="0">
              <a:buNone/>
            </a:pPr>
            <a:r>
              <a:rPr lang="en-US" sz="1500" b="1" dirty="0">
                <a:solidFill>
                  <a:schemeClr val="tx2"/>
                </a:solidFill>
              </a:rPr>
              <a:t>Scenario B: without G1 and G2</a:t>
            </a:r>
            <a:endParaRPr lang="en-US" sz="1500" dirty="0"/>
          </a:p>
        </p:txBody>
      </p:sp>
      <p:sp>
        <p:nvSpPr>
          <p:cNvPr id="23" name="Text 21"/>
          <p:cNvSpPr txBox="1"/>
          <p:nvPr/>
        </p:nvSpPr>
        <p:spPr>
          <a:xfrm>
            <a:off x="8458200" y="2103120"/>
            <a:ext cx="2953512" cy="548640"/>
          </a:xfrm>
          <a:prstGeom prst="rect">
            <a:avLst/>
          </a:prstGeom>
          <a:noFill/>
          <a:ln/>
        </p:spPr>
        <p:txBody>
          <a:bodyPr wrap="square" lIns="0" tIns="0" rIns="0" bIns="0" rtlCol="0" anchor="t"/>
          <a:lstStyle/>
          <a:p>
            <a:pPr indent="0" marL="0">
              <a:buNone/>
            </a:pPr>
            <a:r>
              <a:rPr lang="en-US" sz="1300" dirty="0">
                <a:solidFill>
                  <a:schemeClr val="tx1"/>
                </a:solidFill>
              </a:rPr>
              <a:t>Closer to an early warning, before any grades exist</a:t>
            </a:r>
            <a:endParaRPr lang="en-US" sz="1300" dirty="0"/>
          </a:p>
        </p:txBody>
      </p:sp>
      <p:sp>
        <p:nvSpPr>
          <p:cNvPr id="24" name="Text 22"/>
          <p:cNvSpPr txBox="1"/>
          <p:nvPr/>
        </p:nvSpPr>
        <p:spPr>
          <a:xfrm>
            <a:off x="8458200" y="2743200"/>
            <a:ext cx="2953512" cy="731520"/>
          </a:xfrm>
          <a:prstGeom prst="rect">
            <a:avLst/>
          </a:prstGeom>
          <a:noFill/>
          <a:ln/>
        </p:spPr>
        <p:txBody>
          <a:bodyPr wrap="square" lIns="0" tIns="0" rIns="0" bIns="0" rtlCol="0" anchor="t"/>
          <a:lstStyle/>
          <a:p>
            <a:pPr indent="0" marL="0">
              <a:buNone/>
            </a:pPr>
            <a:r>
              <a:rPr lang="en-US" sz="1200" dirty="0">
                <a:solidFill>
                  <a:schemeClr val="accent6"/>
                </a:solidFill>
              </a:rPr>
              <a:t>Tree: depth 3, leaf 10</a:t>
            </a:r>
            <a:endParaRPr lang="en-US" sz="1200" dirty="0"/>
          </a:p>
          <a:p>
            <a:pPr indent="0" marL="0">
              <a:buNone/>
            </a:pPr>
            <a:r>
              <a:rPr lang="en-US" sz="1200" dirty="0">
                <a:solidFill>
                  <a:schemeClr val="accent6"/>
                </a:solidFill>
              </a:rPr>
              <a:t>Forest: 300 trees, depth 5, 0.5 features</a:t>
            </a:r>
            <a:endParaRPr lang="en-US" sz="1200" dirty="0"/>
          </a:p>
        </p:txBody>
      </p:sp>
      <p:sp>
        <p:nvSpPr>
          <p:cNvPr id="25" name="Text 23"/>
          <p:cNvSpPr txBox="1"/>
          <p:nvPr/>
        </p:nvSpPr>
        <p:spPr>
          <a:xfrm>
            <a:off x="4526280" y="3840480"/>
            <a:ext cx="7114032" cy="320040"/>
          </a:xfrm>
          <a:prstGeom prst="rect">
            <a:avLst/>
          </a:prstGeom>
          <a:noFill/>
          <a:ln/>
        </p:spPr>
        <p:txBody>
          <a:bodyPr wrap="square" lIns="0" tIns="0" rIns="0" bIns="0" rtlCol="0" anchor="ctr"/>
          <a:lstStyle/>
          <a:p>
            <a:pPr indent="0" marL="0">
              <a:buNone/>
            </a:pPr>
            <a:r>
              <a:rPr lang="en-US" sz="1500" b="1" dirty="0">
                <a:solidFill>
                  <a:schemeClr val="accent1"/>
                </a:solidFill>
              </a:rPr>
              <a:t>Preprocessing decisions</a:t>
            </a:r>
            <a:endParaRPr lang="en-US" sz="1500" dirty="0"/>
          </a:p>
        </p:txBody>
      </p:sp>
      <p:sp>
        <p:nvSpPr>
          <p:cNvPr id="26" name="Text 24"/>
          <p:cNvSpPr txBox="1"/>
          <p:nvPr/>
        </p:nvSpPr>
        <p:spPr>
          <a:xfrm>
            <a:off x="4526280" y="4206240"/>
            <a:ext cx="7114032"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missing values or duplicates, so all 395 records were kept</a:t>
            </a:r>
            <a:endParaRPr lang="en-US" sz="1400" dirty="0"/>
          </a:p>
          <a:p>
            <a:pPr marL="342900" indent="-342900">
              <a:spcAft>
                <a:spcPts val="600"/>
              </a:spcAft>
              <a:buSzPct val="100000"/>
              <a:buChar char="•"/>
            </a:pPr>
            <a:r>
              <a:rPr lang="en-US" sz="1400" dirty="0">
                <a:solidFill>
                  <a:schemeClr val="tx1"/>
                </a:solidFill>
              </a:rPr>
              <a:t>One-hot encoding for categories; scaling for linear regression only</a:t>
            </a:r>
            <a:endParaRPr lang="en-US" sz="1400" dirty="0"/>
          </a:p>
          <a:p>
            <a:pPr marL="342900" indent="-342900">
              <a:spcAft>
                <a:spcPts val="600"/>
              </a:spcAft>
              <a:buSzPct val="100000"/>
              <a:buChar char="•"/>
            </a:pPr>
            <a:r>
              <a:rPr lang="en-US" sz="1400" dirty="0">
                <a:solidFill>
                  <a:schemeClr val="tx1"/>
                </a:solidFill>
              </a:rPr>
              <a:t>G3 kept out of the predictors to avoid leakage</a:t>
            </a:r>
            <a:endParaRPr lang="en-US" sz="1400" dirty="0"/>
          </a:p>
          <a:p>
            <a:pPr marL="342900" indent="-342900">
              <a:spcAft>
                <a:spcPts val="600"/>
              </a:spcAft>
              <a:buSzPct val="100000"/>
              <a:buChar char="•"/>
            </a:pPr>
            <a:r>
              <a:rPr lang="en-US" sz="1400" dirty="0">
                <a:solidFill>
                  <a:schemeClr val="tx1"/>
                </a:solidFill>
              </a:rPr>
              <a:t>Same student indices in both scenarios, so results are comparable</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NGOC AN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Ngoc An: random forest wins in both scenarios</a:t>
            </a:r>
            <a:endParaRPr lang="en-US" sz="3200" dirty="0"/>
          </a:p>
        </p:txBody>
      </p:sp>
      <p:graphicFrame>
        <p:nvGraphicFramePr>
          <p:cNvPr id="5" name="R2 chart" descr=""/>
          <p:cNvGraphicFramePr/>
          <p:nvPr/>
        </p:nvGraphicFramePr>
        <p:xfrm>
          <a:off x="548640" y="146304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80960" y="1600200"/>
            <a:ext cx="3959352" cy="566928"/>
          </a:xfrm>
          <a:prstGeom prst="rect">
            <a:avLst/>
          </a:prstGeom>
          <a:noFill/>
          <a:ln/>
        </p:spPr>
        <p:txBody>
          <a:bodyPr wrap="square" lIns="0" tIns="0" rIns="0" bIns="0" rtlCol="0" anchor="b"/>
          <a:lstStyle/>
          <a:p>
            <a:pPr indent="0" marL="0">
              <a:buNone/>
            </a:pPr>
            <a:r>
              <a:rPr lang="en-US" sz="3200" b="1" dirty="0">
                <a:solidFill>
                  <a:srgbClr val="4F4C9A"/>
                </a:solidFill>
                <a:latin typeface="Cambria" pitchFamily="34" charset="0"/>
                <a:ea typeface="Cambria" pitchFamily="34" charset="-122"/>
                <a:cs typeface="Cambria" pitchFamily="34" charset="-120"/>
              </a:rPr>
              <a:t>0.829</a:t>
            </a:r>
            <a:endParaRPr lang="en-US" sz="3200" dirty="0"/>
          </a:p>
        </p:txBody>
      </p:sp>
      <p:sp>
        <p:nvSpPr>
          <p:cNvPr id="7" name="Text 4"/>
          <p:cNvSpPr txBox="1"/>
          <p:nvPr/>
        </p:nvSpPr>
        <p:spPr>
          <a:xfrm>
            <a:off x="7680960" y="2203704"/>
            <a:ext cx="3959352" cy="722376"/>
          </a:xfrm>
          <a:prstGeom prst="rect">
            <a:avLst/>
          </a:prstGeom>
          <a:noFill/>
          <a:ln/>
        </p:spPr>
        <p:txBody>
          <a:bodyPr wrap="square" lIns="0" tIns="0" rIns="0" bIns="0" rtlCol="0" anchor="t"/>
          <a:lstStyle/>
          <a:p>
            <a:pPr indent="0" marL="0">
              <a:buNone/>
            </a:pPr>
            <a:r>
              <a:rPr lang="en-US" sz="1400" dirty="0">
                <a:solidFill>
                  <a:schemeClr val="tx1"/>
                </a:solidFill>
              </a:rPr>
              <a:t>test R² of random forest with G1, G2 (MAE 1.14 on a 0 to 20 scale)</a:t>
            </a:r>
            <a:endParaRPr lang="en-US" sz="1400" dirty="0"/>
          </a:p>
        </p:txBody>
      </p:sp>
      <p:sp>
        <p:nvSpPr>
          <p:cNvPr id="8" name="Text 5"/>
          <p:cNvSpPr txBox="1"/>
          <p:nvPr/>
        </p:nvSpPr>
        <p:spPr>
          <a:xfrm>
            <a:off x="7680960" y="3017520"/>
            <a:ext cx="3959352" cy="566928"/>
          </a:xfrm>
          <a:prstGeom prst="rect">
            <a:avLst/>
          </a:prstGeom>
          <a:noFill/>
          <a:ln/>
        </p:spPr>
        <p:txBody>
          <a:bodyPr wrap="square" lIns="0" tIns="0" rIns="0" bIns="0" rtlCol="0" anchor="b"/>
          <a:lstStyle/>
          <a:p>
            <a:pPr indent="0" marL="0">
              <a:buNone/>
            </a:pPr>
            <a:r>
              <a:rPr lang="en-US" sz="3200" b="1" dirty="0">
                <a:solidFill>
                  <a:srgbClr val="D1495B"/>
                </a:solidFill>
                <a:latin typeface="Cambria" pitchFamily="34" charset="0"/>
                <a:ea typeface="Cambria" pitchFamily="34" charset="-122"/>
                <a:cs typeface="Cambria" pitchFamily="34" charset="-120"/>
              </a:rPr>
              <a:t>0.883 to 0.232</a:t>
            </a:r>
            <a:endParaRPr lang="en-US" sz="3200" dirty="0"/>
          </a:p>
        </p:txBody>
      </p:sp>
      <p:sp>
        <p:nvSpPr>
          <p:cNvPr id="9" name="Text 6"/>
          <p:cNvSpPr txBox="1"/>
          <p:nvPr/>
        </p:nvSpPr>
        <p:spPr>
          <a:xfrm>
            <a:off x="7680960" y="3621024"/>
            <a:ext cx="3959352" cy="722376"/>
          </a:xfrm>
          <a:prstGeom prst="rect">
            <a:avLst/>
          </a:prstGeom>
          <a:noFill/>
          <a:ln/>
        </p:spPr>
        <p:txBody>
          <a:bodyPr wrap="square" lIns="0" tIns="0" rIns="0" bIns="0" rtlCol="0" anchor="t"/>
          <a:lstStyle/>
          <a:p>
            <a:pPr indent="0" marL="0">
              <a:buNone/>
            </a:pPr>
            <a:r>
              <a:rPr lang="en-US" sz="1400" dirty="0">
                <a:solidFill>
                  <a:schemeClr val="tx1"/>
                </a:solidFill>
              </a:rPr>
              <a:t>random forest CV R² when G1 and G2 are removed</a:t>
            </a:r>
            <a:endParaRPr lang="en-US" sz="1400" dirty="0"/>
          </a:p>
        </p:txBody>
      </p:sp>
      <p:sp>
        <p:nvSpPr>
          <p:cNvPr id="10" name="Text 7"/>
          <p:cNvSpPr txBox="1"/>
          <p:nvPr/>
        </p:nvSpPr>
        <p:spPr>
          <a:xfrm>
            <a:off x="7680960" y="4434840"/>
            <a:ext cx="3959352" cy="566928"/>
          </a:xfrm>
          <a:prstGeom prst="rect">
            <a:avLst/>
          </a:prstGeom>
          <a:noFill/>
          <a:ln/>
        </p:spPr>
        <p:txBody>
          <a:bodyPr wrap="square" lIns="0" tIns="0" rIns="0" bIns="0" rtlCol="0" anchor="b"/>
          <a:lstStyle/>
          <a:p>
            <a:pPr indent="0" marL="0">
              <a:buNone/>
            </a:pPr>
            <a:r>
              <a:rPr lang="en-US" sz="3200" b="1" dirty="0">
                <a:solidFill>
                  <a:srgbClr val="12343B"/>
                </a:solidFill>
                <a:latin typeface="Cambria" pitchFamily="34" charset="0"/>
                <a:ea typeface="Cambria" pitchFamily="34" charset="-122"/>
                <a:cs typeface="Cambria" pitchFamily="34" charset="-120"/>
              </a:rPr>
              <a:t>G2</a:t>
            </a:r>
            <a:endParaRPr lang="en-US" sz="3200" dirty="0"/>
          </a:p>
        </p:txBody>
      </p:sp>
      <p:sp>
        <p:nvSpPr>
          <p:cNvPr id="11" name="Text 8"/>
          <p:cNvSpPr txBox="1"/>
          <p:nvPr/>
        </p:nvSpPr>
        <p:spPr>
          <a:xfrm>
            <a:off x="7680960" y="5038344"/>
            <a:ext cx="3959352" cy="722376"/>
          </a:xfrm>
          <a:prstGeom prst="rect">
            <a:avLst/>
          </a:prstGeom>
          <a:noFill/>
          <a:ln/>
        </p:spPr>
        <p:txBody>
          <a:bodyPr wrap="square" lIns="0" tIns="0" rIns="0" bIns="0" rtlCol="0" anchor="t"/>
          <a:lstStyle/>
          <a:p>
            <a:pPr indent="0" marL="0">
              <a:buNone/>
            </a:pPr>
            <a:r>
              <a:rPr lang="en-US" sz="1400" dirty="0">
                <a:solidFill>
                  <a:schemeClr val="tx1"/>
                </a:solidFill>
              </a:rPr>
              <a:t>top predictor in A; past failures and absences lead in B</a:t>
            </a:r>
            <a:endParaRPr lang="en-US" sz="1400" dirty="0"/>
          </a:p>
        </p:txBody>
      </p:sp>
      <p:sp>
        <p:nvSpPr>
          <p:cNvPr id="12" name="Text 9"/>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200" i="1" dirty="0">
                <a:solidFill>
                  <a:schemeClr val="accent6"/>
                </a:solidFill>
              </a:rPr>
              <a:t>Linear regression CV R² in scenario B: −0.092 (worse than predicting the mean).</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QUANG TRUNG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Quang Trung: study habits of 1,000 students</a:t>
            </a:r>
            <a:endParaRPr lang="en-US" sz="3200" dirty="0"/>
          </a:p>
        </p:txBody>
      </p:sp>
      <p:sp>
        <p:nvSpPr>
          <p:cNvPr id="5" name="Stat tile"/>
          <p:cNvSpPr/>
          <p:nvPr/>
        </p:nvSpPr>
        <p:spPr>
          <a:xfrm>
            <a:off x="548640" y="1554480"/>
            <a:ext cx="1737360" cy="1417320"/>
          </a:xfrm>
          <a:prstGeom prst="roundRect">
            <a:avLst>
              <a:gd name="adj" fmla="val 5161"/>
            </a:avLst>
          </a:prstGeom>
          <a:solidFill>
            <a:schemeClr val="bg2"/>
          </a:solidFill>
          <a:ln/>
        </p:spPr>
      </p:sp>
      <p:sp>
        <p:nvSpPr>
          <p:cNvPr id="6" name="Text 4"/>
          <p:cNvSpPr txBox="1"/>
          <p:nvPr/>
        </p:nvSpPr>
        <p:spPr>
          <a:xfrm>
            <a:off x="731520" y="1691640"/>
            <a:ext cx="1371600" cy="594360"/>
          </a:xfrm>
          <a:prstGeom prst="rect">
            <a:avLst/>
          </a:prstGeom>
          <a:noFill/>
          <a:ln/>
        </p:spPr>
        <p:txBody>
          <a:bodyPr wrap="square" lIns="0" tIns="0" rIns="0" bIns="0" rtlCol="0" anchor="ctr"/>
          <a:lstStyle/>
          <a:p>
            <a:pPr indent="0" marL="0">
              <a:buNone/>
            </a:pPr>
            <a:r>
              <a:rPr lang="en-US" sz="3000" b="1" dirty="0">
                <a:solidFill>
                  <a:srgbClr val="E09F3E"/>
                </a:solidFill>
                <a:latin typeface="Cambria" pitchFamily="34" charset="0"/>
                <a:ea typeface="Cambria" pitchFamily="34" charset="-122"/>
                <a:cs typeface="Cambria" pitchFamily="34" charset="-120"/>
              </a:rPr>
              <a:t>1,000</a:t>
            </a:r>
            <a:endParaRPr lang="en-US" sz="3000" dirty="0"/>
          </a:p>
        </p:txBody>
      </p:sp>
      <p:sp>
        <p:nvSpPr>
          <p:cNvPr id="7" name="Text 5"/>
          <p:cNvSpPr txBox="1"/>
          <p:nvPr/>
        </p:nvSpPr>
        <p:spPr>
          <a:xfrm>
            <a:off x="731520" y="23042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students, 12 columns</a:t>
            </a:r>
            <a:endParaRPr lang="en-US" sz="1300" dirty="0"/>
          </a:p>
        </p:txBody>
      </p:sp>
      <p:sp>
        <p:nvSpPr>
          <p:cNvPr id="8" name="Stat tile"/>
          <p:cNvSpPr/>
          <p:nvPr/>
        </p:nvSpPr>
        <p:spPr>
          <a:xfrm>
            <a:off x="2423160" y="1554480"/>
            <a:ext cx="1737360" cy="1417320"/>
          </a:xfrm>
          <a:prstGeom prst="roundRect">
            <a:avLst>
              <a:gd name="adj" fmla="val 5161"/>
            </a:avLst>
          </a:prstGeom>
          <a:solidFill>
            <a:schemeClr val="bg2"/>
          </a:solidFill>
          <a:ln/>
        </p:spPr>
      </p:sp>
      <p:sp>
        <p:nvSpPr>
          <p:cNvPr id="9" name="Text 7"/>
          <p:cNvSpPr txBox="1"/>
          <p:nvPr/>
        </p:nvSpPr>
        <p:spPr>
          <a:xfrm>
            <a:off x="2606040" y="1691640"/>
            <a:ext cx="1371600" cy="594360"/>
          </a:xfrm>
          <a:prstGeom prst="rect">
            <a:avLst/>
          </a:prstGeom>
          <a:noFill/>
          <a:ln/>
        </p:spPr>
        <p:txBody>
          <a:bodyPr wrap="square" lIns="0" tIns="0" rIns="0" bIns="0" rtlCol="0" anchor="ctr"/>
          <a:lstStyle/>
          <a:p>
            <a:pPr indent="0" marL="0">
              <a:buNone/>
            </a:pPr>
            <a:r>
              <a:rPr lang="en-US" sz="3000" b="1" dirty="0">
                <a:solidFill>
                  <a:srgbClr val="E09F3E"/>
                </a:solidFill>
                <a:latin typeface="Cambria" pitchFamily="34" charset="0"/>
                <a:ea typeface="Cambria" pitchFamily="34" charset="-122"/>
                <a:cs typeface="Cambria" pitchFamily="34" charset="-120"/>
              </a:rPr>
              <a:t>83.5</a:t>
            </a:r>
            <a:endParaRPr lang="en-US" sz="3000" dirty="0"/>
          </a:p>
        </p:txBody>
      </p:sp>
      <p:sp>
        <p:nvSpPr>
          <p:cNvPr id="10" name="Text 8"/>
          <p:cNvSpPr txBox="1"/>
          <p:nvPr/>
        </p:nvSpPr>
        <p:spPr>
          <a:xfrm>
            <a:off x="2606040" y="23042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mean exam score (SD 10.3)</a:t>
            </a:r>
            <a:endParaRPr lang="en-US" sz="1300" dirty="0"/>
          </a:p>
        </p:txBody>
      </p:sp>
      <p:sp>
        <p:nvSpPr>
          <p:cNvPr id="11" name="Stat tile"/>
          <p:cNvSpPr/>
          <p:nvPr/>
        </p:nvSpPr>
        <p:spPr>
          <a:xfrm>
            <a:off x="548640" y="3154680"/>
            <a:ext cx="1737360" cy="1417320"/>
          </a:xfrm>
          <a:prstGeom prst="roundRect">
            <a:avLst>
              <a:gd name="adj" fmla="val 5161"/>
            </a:avLst>
          </a:prstGeom>
          <a:solidFill>
            <a:schemeClr val="bg2"/>
          </a:solidFill>
          <a:ln/>
        </p:spPr>
      </p:sp>
      <p:sp>
        <p:nvSpPr>
          <p:cNvPr id="12" name="Text 10"/>
          <p:cNvSpPr txBox="1"/>
          <p:nvPr/>
        </p:nvSpPr>
        <p:spPr>
          <a:xfrm>
            <a:off x="731520" y="3291840"/>
            <a:ext cx="1371600" cy="594360"/>
          </a:xfrm>
          <a:prstGeom prst="rect">
            <a:avLst/>
          </a:prstGeom>
          <a:noFill/>
          <a:ln/>
        </p:spPr>
        <p:txBody>
          <a:bodyPr wrap="square" lIns="0" tIns="0" rIns="0" bIns="0" rtlCol="0" anchor="ctr"/>
          <a:lstStyle/>
          <a:p>
            <a:pPr indent="0" marL="0">
              <a:buNone/>
            </a:pPr>
            <a:r>
              <a:rPr lang="en-US" sz="3000" b="1" dirty="0">
                <a:solidFill>
                  <a:srgbClr val="E09F3E"/>
                </a:solidFill>
                <a:latin typeface="Cambria" pitchFamily="34" charset="0"/>
                <a:ea typeface="Cambria" pitchFamily="34" charset="-122"/>
                <a:cs typeface="Cambria" pitchFamily="34" charset="-120"/>
              </a:rPr>
              <a:t>7.8%</a:t>
            </a:r>
            <a:endParaRPr lang="en-US" sz="3000" dirty="0"/>
          </a:p>
        </p:txBody>
      </p:sp>
      <p:sp>
        <p:nvSpPr>
          <p:cNvPr id="13" name="Text 11"/>
          <p:cNvSpPr txBox="1"/>
          <p:nvPr/>
        </p:nvSpPr>
        <p:spPr>
          <a:xfrm>
            <a:off x="731520" y="39044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score exactly 100 (ceiling)</a:t>
            </a:r>
            <a:endParaRPr lang="en-US" sz="1300" dirty="0"/>
          </a:p>
        </p:txBody>
      </p:sp>
      <p:sp>
        <p:nvSpPr>
          <p:cNvPr id="14" name="Stat tile"/>
          <p:cNvSpPr/>
          <p:nvPr/>
        </p:nvSpPr>
        <p:spPr>
          <a:xfrm>
            <a:off x="2423160" y="3154680"/>
            <a:ext cx="1737360" cy="1417320"/>
          </a:xfrm>
          <a:prstGeom prst="roundRect">
            <a:avLst>
              <a:gd name="adj" fmla="val 5161"/>
            </a:avLst>
          </a:prstGeom>
          <a:solidFill>
            <a:schemeClr val="bg2"/>
          </a:solidFill>
          <a:ln/>
        </p:spPr>
      </p:sp>
      <p:sp>
        <p:nvSpPr>
          <p:cNvPr id="15" name="Text 13"/>
          <p:cNvSpPr txBox="1"/>
          <p:nvPr/>
        </p:nvSpPr>
        <p:spPr>
          <a:xfrm>
            <a:off x="2606040" y="3291840"/>
            <a:ext cx="1371600" cy="594360"/>
          </a:xfrm>
          <a:prstGeom prst="rect">
            <a:avLst/>
          </a:prstGeom>
          <a:noFill/>
          <a:ln/>
        </p:spPr>
        <p:txBody>
          <a:bodyPr wrap="square" lIns="0" tIns="0" rIns="0" bIns="0" rtlCol="0" anchor="ctr"/>
          <a:lstStyle/>
          <a:p>
            <a:pPr indent="0" marL="0">
              <a:buNone/>
            </a:pPr>
            <a:r>
              <a:rPr lang="en-US" sz="3000" b="1" dirty="0">
                <a:solidFill>
                  <a:srgbClr val="E09F3E"/>
                </a:solidFill>
                <a:latin typeface="Cambria" pitchFamily="34" charset="0"/>
                <a:ea typeface="Cambria" pitchFamily="34" charset="-122"/>
                <a:cs typeface="Cambria" pitchFamily="34" charset="-120"/>
              </a:rPr>
              <a:t>80 / 20</a:t>
            </a:r>
            <a:endParaRPr lang="en-US" sz="3000" dirty="0"/>
          </a:p>
        </p:txBody>
      </p:sp>
      <p:sp>
        <p:nvSpPr>
          <p:cNvPr id="16" name="Text 14"/>
          <p:cNvSpPr txBox="1"/>
          <p:nvPr/>
        </p:nvSpPr>
        <p:spPr>
          <a:xfrm>
            <a:off x="2606040" y="39044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split: 800 train, 200 test students</a:t>
            </a:r>
            <a:endParaRPr lang="en-US" sz="1300" dirty="0"/>
          </a:p>
        </p:txBody>
      </p:sp>
      <p:sp>
        <p:nvSpPr>
          <p:cNvPr id="17" name="Text 15"/>
          <p:cNvSpPr txBox="1"/>
          <p:nvPr/>
        </p:nvSpPr>
        <p:spPr>
          <a:xfrm>
            <a:off x="4526280" y="1554480"/>
            <a:ext cx="7114032" cy="320040"/>
          </a:xfrm>
          <a:prstGeom prst="rect">
            <a:avLst/>
          </a:prstGeom>
          <a:noFill/>
          <a:ln/>
        </p:spPr>
        <p:txBody>
          <a:bodyPr wrap="square" lIns="0" tIns="0" rIns="0" bIns="0" rtlCol="0" anchor="ctr"/>
          <a:lstStyle/>
          <a:p>
            <a:pPr indent="0" marL="0">
              <a:buNone/>
            </a:pPr>
            <a:r>
              <a:rPr lang="en-US" sz="1500" b="1" dirty="0">
                <a:solidFill>
                  <a:schemeClr val="accent1"/>
                </a:solidFill>
              </a:rPr>
              <a:t>Three data decisions</a:t>
            </a:r>
            <a:endParaRPr lang="en-US" sz="1500" dirty="0"/>
          </a:p>
        </p:txBody>
      </p:sp>
      <p:sp>
        <p:nvSpPr>
          <p:cNvPr id="18" name="Shape 16"/>
          <p:cNvSpPr/>
          <p:nvPr/>
        </p:nvSpPr>
        <p:spPr>
          <a:xfrm>
            <a:off x="4526280" y="2011680"/>
            <a:ext cx="457200" cy="457200"/>
          </a:xfrm>
          <a:prstGeom prst="ellipse">
            <a:avLst/>
          </a:prstGeom>
          <a:solidFill>
            <a:srgbClr val="E09F3E"/>
          </a:solidFill>
          <a:ln/>
        </p:spPr>
      </p:sp>
      <p:sp>
        <p:nvSpPr>
          <p:cNvPr id="19" name="Text 17"/>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0" name="Text 18"/>
          <p:cNvSpPr txBox="1"/>
          <p:nvPr/>
        </p:nvSpPr>
        <p:spPr>
          <a:xfrm>
            <a:off x="5166360" y="1965960"/>
            <a:ext cx="6473952" cy="914400"/>
          </a:xfrm>
          <a:prstGeom prst="rect">
            <a:avLst/>
          </a:prstGeom>
          <a:noFill/>
          <a:ln/>
        </p:spPr>
        <p:txBody>
          <a:bodyPr wrap="square" lIns="0" tIns="0" rIns="0" bIns="0" rtlCol="0" anchor="t"/>
          <a:lstStyle/>
          <a:p>
            <a:pPr indent="0" marL="0">
              <a:buNone/>
            </a:pPr>
            <a:r>
              <a:rPr lang="en-US" sz="1500" b="1" dirty="0">
                <a:solidFill>
                  <a:schemeClr val="tx2"/>
                </a:solidFill>
              </a:rPr>
              <a:t>Dropped final_grade</a:t>
            </a:r>
            <a:endParaRPr lang="en-US" sz="1500" dirty="0"/>
          </a:p>
          <a:p>
            <a:pPr indent="0" marL="0">
              <a:buNone/>
            </a:pPr>
            <a:r>
              <a:rPr lang="en-US" sz="1300" dirty="0">
                <a:solidFill>
                  <a:schemeClr val="tx1"/>
                </a:solidFill>
              </a:rPr>
              <a:t>It is a letter band computed from the score, so it would leak the target.</a:t>
            </a:r>
            <a:endParaRPr lang="en-US" sz="1500" dirty="0"/>
          </a:p>
        </p:txBody>
      </p:sp>
      <p:sp>
        <p:nvSpPr>
          <p:cNvPr id="21" name="Shape 19"/>
          <p:cNvSpPr/>
          <p:nvPr/>
        </p:nvSpPr>
        <p:spPr>
          <a:xfrm>
            <a:off x="4526280" y="3035808"/>
            <a:ext cx="457200" cy="457200"/>
          </a:xfrm>
          <a:prstGeom prst="ellipse">
            <a:avLst/>
          </a:prstGeom>
          <a:solidFill>
            <a:srgbClr val="E09F3E"/>
          </a:solidFill>
          <a:ln/>
        </p:spPr>
      </p:sp>
      <p:sp>
        <p:nvSpPr>
          <p:cNvPr id="22" name="Text 20"/>
          <p:cNvSpPr txBox="1"/>
          <p:nvPr/>
        </p:nvSpPr>
        <p:spPr>
          <a:xfrm>
            <a:off x="4526280" y="3035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3" name="Text 21"/>
          <p:cNvSpPr txBox="1"/>
          <p:nvPr/>
        </p:nvSpPr>
        <p:spPr>
          <a:xfrm>
            <a:off x="5166360" y="2990088"/>
            <a:ext cx="6473952" cy="914400"/>
          </a:xfrm>
          <a:prstGeom prst="rect">
            <a:avLst/>
          </a:prstGeom>
          <a:noFill/>
          <a:ln/>
        </p:spPr>
        <p:txBody>
          <a:bodyPr wrap="square" lIns="0" tIns="0" rIns="0" bIns="0" rtlCol="0" anchor="t"/>
          <a:lstStyle/>
          <a:p>
            <a:pPr indent="0" marL="0">
              <a:buNone/>
            </a:pPr>
            <a:r>
              <a:rPr lang="en-US" sz="1500" b="1" dirty="0">
                <a:solidFill>
                  <a:schemeClr val="tx2"/>
                </a:solidFill>
              </a:rPr>
              <a:t>Loaded with keep_default_na = False</a:t>
            </a:r>
            <a:endParaRPr lang="en-US" sz="1500" dirty="0"/>
          </a:p>
          <a:p>
            <a:pPr indent="0" marL="0">
              <a:buNone/>
            </a:pPr>
            <a:r>
              <a:rPr lang="en-US" sz="1300" dirty="0">
                <a:solidFill>
                  <a:schemeClr val="tx1"/>
                </a:solidFill>
              </a:rPr>
              <a:t>Pandas read the category None in parental_education as missing (102 rows).</a:t>
            </a:r>
            <a:endParaRPr lang="en-US" sz="1500" dirty="0"/>
          </a:p>
        </p:txBody>
      </p:sp>
      <p:sp>
        <p:nvSpPr>
          <p:cNvPr id="24" name="Shape 22"/>
          <p:cNvSpPr/>
          <p:nvPr/>
        </p:nvSpPr>
        <p:spPr>
          <a:xfrm>
            <a:off x="4526280" y="4059936"/>
            <a:ext cx="457200" cy="457200"/>
          </a:xfrm>
          <a:prstGeom prst="ellipse">
            <a:avLst/>
          </a:prstGeom>
          <a:solidFill>
            <a:srgbClr val="E09F3E"/>
          </a:solidFill>
          <a:ln/>
        </p:spPr>
      </p:sp>
      <p:sp>
        <p:nvSpPr>
          <p:cNvPr id="25" name="Text 23"/>
          <p:cNvSpPr txBox="1"/>
          <p:nvPr/>
        </p:nvSpPr>
        <p:spPr>
          <a:xfrm>
            <a:off x="4526280" y="40599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6" name="Text 24"/>
          <p:cNvSpPr txBox="1"/>
          <p:nvPr/>
        </p:nvSpPr>
        <p:spPr>
          <a:xfrm>
            <a:off x="5166360" y="4014216"/>
            <a:ext cx="6473952" cy="914400"/>
          </a:xfrm>
          <a:prstGeom prst="rect">
            <a:avLst/>
          </a:prstGeom>
          <a:noFill/>
          <a:ln/>
        </p:spPr>
        <p:txBody>
          <a:bodyPr wrap="square" lIns="0" tIns="0" rIns="0" bIns="0" rtlCol="0" anchor="t"/>
          <a:lstStyle/>
          <a:p>
            <a:pPr indent="0" marL="0">
              <a:buNone/>
            </a:pPr>
            <a:r>
              <a:rPr lang="en-US" sz="1500" b="1" dirty="0">
                <a:solidFill>
                  <a:schemeClr val="tx2"/>
                </a:solidFill>
              </a:rPr>
              <a:t>Kept the raw features</a:t>
            </a:r>
            <a:endParaRPr lang="en-US" sz="1500" dirty="0"/>
          </a:p>
          <a:p>
            <a:pPr indent="0" marL="0">
              <a:buNone/>
            </a:pPr>
            <a:r>
              <a:rPr lang="en-US" sz="1300" dirty="0">
                <a:solidFill>
                  <a:schemeClr val="tx1"/>
                </a:solidFill>
              </a:rPr>
              <a:t>effective_study and sleep_gap changed CV R² by −0.003, 0.018 and 0.006, below one fold SD (0.034, 0.080, 0.025).</a:t>
            </a:r>
            <a:endParaRPr lang="en-US" sz="1500" dirty="0"/>
          </a:p>
        </p:txBody>
      </p:sp>
      <p:sp>
        <p:nvSpPr>
          <p:cNvPr id="27" name="Scenario chip"/>
          <p:cNvSpPr/>
          <p:nvPr/>
        </p:nvSpPr>
        <p:spPr>
          <a:xfrm>
            <a:off x="4526280" y="5120640"/>
            <a:ext cx="4206240" cy="868680"/>
          </a:xfrm>
          <a:prstGeom prst="roundRect">
            <a:avLst>
              <a:gd name="adj" fmla="val 8421"/>
            </a:avLst>
          </a:prstGeom>
          <a:solidFill>
            <a:srgbClr val="F8E7CC"/>
          </a:solidFill>
          <a:ln/>
        </p:spPr>
      </p:sp>
      <p:sp>
        <p:nvSpPr>
          <p:cNvPr id="28" name="Text 26"/>
          <p:cNvSpPr txBox="1"/>
          <p:nvPr/>
        </p:nvSpPr>
        <p:spPr>
          <a:xfrm>
            <a:off x="4709160" y="5120640"/>
            <a:ext cx="3840480" cy="868680"/>
          </a:xfrm>
          <a:prstGeom prst="rect">
            <a:avLst/>
          </a:prstGeom>
          <a:noFill/>
          <a:ln/>
        </p:spPr>
        <p:txBody>
          <a:bodyPr wrap="square" lIns="0" tIns="0" rIns="0" bIns="0" rtlCol="0" anchor="ctr"/>
          <a:lstStyle/>
          <a:p>
            <a:pPr indent="0" marL="0">
              <a:buNone/>
            </a:pPr>
            <a:r>
              <a:rPr lang="en-US" sz="1400" b="1" dirty="0">
                <a:solidFill>
                  <a:schemeClr val="tx2"/>
                </a:solidFill>
              </a:rPr>
              <a:t>Scenario A</a:t>
            </a:r>
            <a:endParaRPr lang="en-US" sz="1400" dirty="0"/>
          </a:p>
          <a:p>
            <a:pPr indent="0" marL="0">
              <a:buNone/>
            </a:pPr>
            <a:r>
              <a:rPr lang="en-US" sz="1200" dirty="0">
                <a:solidFill>
                  <a:schemeClr val="tx1"/>
                </a:solidFill>
              </a:rPr>
              <a:t>six behaviour predictors: study hours, attendance, sleep, internet, extracurricular, part-time job</a:t>
            </a:r>
            <a:endParaRPr lang="en-US" sz="1400" dirty="0"/>
          </a:p>
        </p:txBody>
      </p:sp>
      <p:sp>
        <p:nvSpPr>
          <p:cNvPr id="29" name="Scenario chip"/>
          <p:cNvSpPr/>
          <p:nvPr/>
        </p:nvSpPr>
        <p:spPr>
          <a:xfrm>
            <a:off x="9006840" y="5120640"/>
            <a:ext cx="2633472" cy="868680"/>
          </a:xfrm>
          <a:prstGeom prst="roundRect">
            <a:avLst>
              <a:gd name="adj" fmla="val 8421"/>
            </a:avLst>
          </a:prstGeom>
          <a:solidFill>
            <a:srgbClr val="F8E7CC"/>
          </a:solidFill>
          <a:ln/>
        </p:spPr>
      </p:sp>
      <p:sp>
        <p:nvSpPr>
          <p:cNvPr id="30" name="Text 28"/>
          <p:cNvSpPr txBox="1"/>
          <p:nvPr/>
        </p:nvSpPr>
        <p:spPr>
          <a:xfrm>
            <a:off x="9189720" y="5120640"/>
            <a:ext cx="2267712" cy="868680"/>
          </a:xfrm>
          <a:prstGeom prst="rect">
            <a:avLst/>
          </a:prstGeom>
          <a:noFill/>
          <a:ln/>
        </p:spPr>
        <p:txBody>
          <a:bodyPr wrap="square" lIns="0" tIns="0" rIns="0" bIns="0" rtlCol="0" anchor="ctr"/>
          <a:lstStyle/>
          <a:p>
            <a:pPr indent="0" marL="0">
              <a:buNone/>
            </a:pPr>
            <a:r>
              <a:rPr lang="en-US" sz="1400" b="1" dirty="0">
                <a:solidFill>
                  <a:schemeClr val="tx2"/>
                </a:solidFill>
              </a:rPr>
              <a:t>Scenario B</a:t>
            </a:r>
            <a:endParaRPr lang="en-US" sz="1400" dirty="0"/>
          </a:p>
          <a:p>
            <a:pPr indent="0" marL="0">
              <a:buNone/>
            </a:pPr>
            <a:r>
              <a:rPr lang="en-US" sz="1200" dirty="0">
                <a:solidFill>
                  <a:schemeClr val="tx1"/>
                </a:solidFill>
              </a:rPr>
              <a:t>Scenario A plus previous_grade</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QUANG TRUNG NGUYEN</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Quang Trung: linear regression wins both scenarios</a:t>
            </a:r>
            <a:endParaRPr lang="en-US" sz="3200" dirty="0"/>
          </a:p>
        </p:txBody>
      </p:sp>
      <p:graphicFrame>
        <p:nvGraphicFramePr>
          <p:cNvPr id="5" name="R2 chart" descr=""/>
          <p:cNvGraphicFramePr/>
          <p:nvPr/>
        </p:nvGraphicFramePr>
        <p:xfrm>
          <a:off x="548640" y="146304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80960" y="1600200"/>
            <a:ext cx="3959352" cy="566928"/>
          </a:xfrm>
          <a:prstGeom prst="rect">
            <a:avLst/>
          </a:prstGeom>
          <a:noFill/>
          <a:ln/>
        </p:spPr>
        <p:txBody>
          <a:bodyPr wrap="square" lIns="0" tIns="0" rIns="0" bIns="0" rtlCol="0" anchor="b"/>
          <a:lstStyle/>
          <a:p>
            <a:pPr indent="0" marL="0">
              <a:buNone/>
            </a:pPr>
            <a:r>
              <a:rPr lang="en-US" sz="3200" b="1" dirty="0">
                <a:solidFill>
                  <a:srgbClr val="1B7F79"/>
                </a:solidFill>
                <a:latin typeface="Cambria" pitchFamily="34" charset="0"/>
                <a:ea typeface="Cambria" pitchFamily="34" charset="-122"/>
                <a:cs typeface="Cambria" pitchFamily="34" charset="-120"/>
              </a:rPr>
              <a:t>19 of 20</a:t>
            </a:r>
            <a:endParaRPr lang="en-US" sz="3200" dirty="0"/>
          </a:p>
        </p:txBody>
      </p:sp>
      <p:sp>
        <p:nvSpPr>
          <p:cNvPr id="7" name="Text 4"/>
          <p:cNvSpPr txBox="1"/>
          <p:nvPr/>
        </p:nvSpPr>
        <p:spPr>
          <a:xfrm>
            <a:off x="7680960" y="2203704"/>
            <a:ext cx="3959352" cy="722376"/>
          </a:xfrm>
          <a:prstGeom prst="rect">
            <a:avLst/>
          </a:prstGeom>
          <a:noFill/>
          <a:ln/>
        </p:spPr>
        <p:txBody>
          <a:bodyPr wrap="square" lIns="0" tIns="0" rIns="0" bIns="0" rtlCol="0" anchor="t"/>
          <a:lstStyle/>
          <a:p>
            <a:pPr indent="0" marL="0">
              <a:buNone/>
            </a:pPr>
            <a:r>
              <a:rPr lang="en-US" sz="1400" dirty="0">
                <a:solidFill>
                  <a:schemeClr val="tx1"/>
                </a:solidFill>
              </a:rPr>
              <a:t>random 80/20 splits where linear regression was best in A (20 of 20 in B)</a:t>
            </a:r>
            <a:endParaRPr lang="en-US" sz="1400" dirty="0"/>
          </a:p>
        </p:txBody>
      </p:sp>
      <p:sp>
        <p:nvSpPr>
          <p:cNvPr id="8" name="Text 5"/>
          <p:cNvSpPr txBox="1"/>
          <p:nvPr/>
        </p:nvSpPr>
        <p:spPr>
          <a:xfrm>
            <a:off x="7680960" y="3017520"/>
            <a:ext cx="3959352" cy="566928"/>
          </a:xfrm>
          <a:prstGeom prst="rect">
            <a:avLst/>
          </a:prstGeom>
          <a:noFill/>
          <a:ln/>
        </p:spPr>
        <p:txBody>
          <a:bodyPr wrap="square" lIns="0" tIns="0" rIns="0" bIns="0" rtlCol="0" anchor="b"/>
          <a:lstStyle/>
          <a:p>
            <a:pPr indent="0" marL="0">
              <a:buNone/>
            </a:pPr>
            <a:r>
              <a:rPr lang="en-US" sz="3200" b="1" dirty="0">
                <a:solidFill>
                  <a:srgbClr val="D1495B"/>
                </a:solidFill>
                <a:latin typeface="Cambria" pitchFamily="34" charset="0"/>
                <a:ea typeface="Cambria" pitchFamily="34" charset="-122"/>
                <a:cs typeface="Cambria" pitchFamily="34" charset="-120"/>
              </a:rPr>
              <a:t>0.84 vs 0.34</a:t>
            </a:r>
            <a:endParaRPr lang="en-US" sz="3200" dirty="0"/>
          </a:p>
        </p:txBody>
      </p:sp>
      <p:sp>
        <p:nvSpPr>
          <p:cNvPr id="9" name="Text 6"/>
          <p:cNvSpPr txBox="1"/>
          <p:nvPr/>
        </p:nvSpPr>
        <p:spPr>
          <a:xfrm>
            <a:off x="7680960" y="3621024"/>
            <a:ext cx="3959352" cy="722376"/>
          </a:xfrm>
          <a:prstGeom prst="rect">
            <a:avLst/>
          </a:prstGeom>
          <a:noFill/>
          <a:ln/>
        </p:spPr>
        <p:txBody>
          <a:bodyPr wrap="square" lIns="0" tIns="0" rIns="0" bIns="0" rtlCol="0" anchor="t"/>
          <a:lstStyle/>
          <a:p>
            <a:pPr indent="0" marL="0">
              <a:buNone/>
            </a:pPr>
            <a:r>
              <a:rPr lang="en-US" sz="1400" dirty="0">
                <a:solidFill>
                  <a:schemeClr val="tx1"/>
                </a:solidFill>
              </a:rPr>
              <a:t>random forest train vs test R² in A: the forest overfits</a:t>
            </a:r>
            <a:endParaRPr lang="en-US" sz="1400" dirty="0"/>
          </a:p>
        </p:txBody>
      </p:sp>
      <p:sp>
        <p:nvSpPr>
          <p:cNvPr id="10" name="Text 7"/>
          <p:cNvSpPr txBox="1"/>
          <p:nvPr/>
        </p:nvSpPr>
        <p:spPr>
          <a:xfrm>
            <a:off x="7680960" y="4434840"/>
            <a:ext cx="3959352" cy="566928"/>
          </a:xfrm>
          <a:prstGeom prst="rect">
            <a:avLst/>
          </a:prstGeom>
          <a:noFill/>
          <a:ln/>
        </p:spPr>
        <p:txBody>
          <a:bodyPr wrap="square" lIns="0" tIns="0" rIns="0" bIns="0" rtlCol="0" anchor="b"/>
          <a:lstStyle/>
          <a:p>
            <a:pPr indent="0" marL="0">
              <a:buNone/>
            </a:pPr>
            <a:r>
              <a:rPr lang="en-US" sz="3200" b="1" dirty="0">
                <a:solidFill>
                  <a:srgbClr val="12343B"/>
                </a:solidFill>
                <a:latin typeface="Cambria" pitchFamily="34" charset="0"/>
                <a:ea typeface="Cambria" pitchFamily="34" charset="-122"/>
                <a:cs typeface="Cambria" pitchFamily="34" charset="-120"/>
              </a:rPr>
              <a:t>+5.85 points</a:t>
            </a:r>
            <a:endParaRPr lang="en-US" sz="3200" dirty="0"/>
          </a:p>
        </p:txBody>
      </p:sp>
      <p:sp>
        <p:nvSpPr>
          <p:cNvPr id="11" name="Text 8"/>
          <p:cNvSpPr txBox="1"/>
          <p:nvPr/>
        </p:nvSpPr>
        <p:spPr>
          <a:xfrm>
            <a:off x="7680960" y="5038344"/>
            <a:ext cx="3959352" cy="722376"/>
          </a:xfrm>
          <a:prstGeom prst="rect">
            <a:avLst/>
          </a:prstGeom>
          <a:noFill/>
          <a:ln/>
        </p:spPr>
        <p:txBody>
          <a:bodyPr wrap="square" lIns="0" tIns="0" rIns="0" bIns="0" rtlCol="0" anchor="t"/>
          <a:lstStyle/>
          <a:p>
            <a:pPr indent="0" marL="0">
              <a:buNone/>
            </a:pPr>
            <a:r>
              <a:rPr lang="en-US" sz="1400" dirty="0">
                <a:solidFill>
                  <a:schemeClr val="tx1"/>
                </a:solidFill>
              </a:rPr>
              <a:t>per SD of study hours; a part-time job −4.00 (linear regression)</a:t>
            </a:r>
            <a:endParaRPr lang="en-US" sz="1400" dirty="0"/>
          </a:p>
        </p:txBody>
      </p:sp>
      <p:sp>
        <p:nvSpPr>
          <p:cNvPr id="12" name="Text 9"/>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200" i="1" dirty="0">
                <a:solidFill>
                  <a:schemeClr val="accent6"/>
                </a:solidFill>
              </a:rPr>
              <a:t>CV R² (mean): linear regression 0.480 (A) and 0.659 (B); random forest 0.443 (A) and 0.594 (B).</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AKIL VENKATESHKUMAR</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Akil: demographic predictors only</a:t>
            </a:r>
            <a:endParaRPr lang="en-US" sz="3200" dirty="0"/>
          </a:p>
        </p:txBody>
      </p:sp>
      <p:sp>
        <p:nvSpPr>
          <p:cNvPr id="5" name="Stat tile"/>
          <p:cNvSpPr/>
          <p:nvPr/>
        </p:nvSpPr>
        <p:spPr>
          <a:xfrm>
            <a:off x="548640" y="1554480"/>
            <a:ext cx="1737360" cy="1417320"/>
          </a:xfrm>
          <a:prstGeom prst="roundRect">
            <a:avLst>
              <a:gd name="adj" fmla="val 5161"/>
            </a:avLst>
          </a:prstGeom>
          <a:solidFill>
            <a:schemeClr val="bg2"/>
          </a:solidFill>
          <a:ln/>
        </p:spPr>
      </p:sp>
      <p:sp>
        <p:nvSpPr>
          <p:cNvPr id="6" name="Text 4"/>
          <p:cNvSpPr txBox="1"/>
          <p:nvPr/>
        </p:nvSpPr>
        <p:spPr>
          <a:xfrm>
            <a:off x="731520" y="1691640"/>
            <a:ext cx="1371600" cy="594360"/>
          </a:xfrm>
          <a:prstGeom prst="rect">
            <a:avLst/>
          </a:prstGeom>
          <a:noFill/>
          <a:ln/>
        </p:spPr>
        <p:txBody>
          <a:bodyPr wrap="square" lIns="0" tIns="0" rIns="0" bIns="0" rtlCol="0" anchor="ctr"/>
          <a:lstStyle/>
          <a:p>
            <a:pPr indent="0" marL="0">
              <a:buNone/>
            </a:pPr>
            <a:r>
              <a:rPr lang="en-US" sz="3000" b="1" dirty="0">
                <a:solidFill>
                  <a:srgbClr val="4F4C9A"/>
                </a:solidFill>
                <a:latin typeface="Cambria" pitchFamily="34" charset="0"/>
                <a:ea typeface="Cambria" pitchFamily="34" charset="-122"/>
                <a:cs typeface="Cambria" pitchFamily="34" charset="-120"/>
              </a:rPr>
              <a:t>1,000</a:t>
            </a:r>
            <a:endParaRPr lang="en-US" sz="3000" dirty="0"/>
          </a:p>
        </p:txBody>
      </p:sp>
      <p:sp>
        <p:nvSpPr>
          <p:cNvPr id="7" name="Text 5"/>
          <p:cNvSpPr txBox="1"/>
          <p:nvPr/>
        </p:nvSpPr>
        <p:spPr>
          <a:xfrm>
            <a:off x="731520" y="23042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students, 8 columns</a:t>
            </a:r>
            <a:endParaRPr lang="en-US" sz="1300" dirty="0"/>
          </a:p>
        </p:txBody>
      </p:sp>
      <p:sp>
        <p:nvSpPr>
          <p:cNvPr id="8" name="Stat tile"/>
          <p:cNvSpPr/>
          <p:nvPr/>
        </p:nvSpPr>
        <p:spPr>
          <a:xfrm>
            <a:off x="2423160" y="1554480"/>
            <a:ext cx="1737360" cy="1417320"/>
          </a:xfrm>
          <a:prstGeom prst="roundRect">
            <a:avLst>
              <a:gd name="adj" fmla="val 5161"/>
            </a:avLst>
          </a:prstGeom>
          <a:solidFill>
            <a:schemeClr val="bg2"/>
          </a:solidFill>
          <a:ln/>
        </p:spPr>
      </p:sp>
      <p:sp>
        <p:nvSpPr>
          <p:cNvPr id="9" name="Text 7"/>
          <p:cNvSpPr txBox="1"/>
          <p:nvPr/>
        </p:nvSpPr>
        <p:spPr>
          <a:xfrm>
            <a:off x="2606040" y="1691640"/>
            <a:ext cx="1371600" cy="594360"/>
          </a:xfrm>
          <a:prstGeom prst="rect">
            <a:avLst/>
          </a:prstGeom>
          <a:noFill/>
          <a:ln/>
        </p:spPr>
        <p:txBody>
          <a:bodyPr wrap="square" lIns="0" tIns="0" rIns="0" bIns="0" rtlCol="0" anchor="ctr"/>
          <a:lstStyle/>
          <a:p>
            <a:pPr indent="0" marL="0">
              <a:buNone/>
            </a:pPr>
            <a:r>
              <a:rPr lang="en-US" sz="3000" b="1" dirty="0">
                <a:solidFill>
                  <a:srgbClr val="4F4C9A"/>
                </a:solidFill>
                <a:latin typeface="Cambria" pitchFamily="34" charset="0"/>
                <a:ea typeface="Cambria" pitchFamily="34" charset="-122"/>
                <a:cs typeface="Cambria" pitchFamily="34" charset="-120"/>
              </a:rPr>
              <a:t>5</a:t>
            </a:r>
            <a:endParaRPr lang="en-US" sz="3000" dirty="0"/>
          </a:p>
        </p:txBody>
      </p:sp>
      <p:sp>
        <p:nvSpPr>
          <p:cNvPr id="10" name="Text 8"/>
          <p:cNvSpPr txBox="1"/>
          <p:nvPr/>
        </p:nvSpPr>
        <p:spPr>
          <a:xfrm>
            <a:off x="2606040" y="23042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categorical predictors</a:t>
            </a:r>
            <a:endParaRPr lang="en-US" sz="1300" dirty="0"/>
          </a:p>
        </p:txBody>
      </p:sp>
      <p:sp>
        <p:nvSpPr>
          <p:cNvPr id="11" name="Stat tile"/>
          <p:cNvSpPr/>
          <p:nvPr/>
        </p:nvSpPr>
        <p:spPr>
          <a:xfrm>
            <a:off x="548640" y="3154680"/>
            <a:ext cx="1737360" cy="1417320"/>
          </a:xfrm>
          <a:prstGeom prst="roundRect">
            <a:avLst>
              <a:gd name="adj" fmla="val 5161"/>
            </a:avLst>
          </a:prstGeom>
          <a:solidFill>
            <a:schemeClr val="bg2"/>
          </a:solidFill>
          <a:ln/>
        </p:spPr>
      </p:sp>
      <p:sp>
        <p:nvSpPr>
          <p:cNvPr id="12" name="Text 10"/>
          <p:cNvSpPr txBox="1"/>
          <p:nvPr/>
        </p:nvSpPr>
        <p:spPr>
          <a:xfrm>
            <a:off x="731520" y="3291840"/>
            <a:ext cx="1371600" cy="594360"/>
          </a:xfrm>
          <a:prstGeom prst="rect">
            <a:avLst/>
          </a:prstGeom>
          <a:noFill/>
          <a:ln/>
        </p:spPr>
        <p:txBody>
          <a:bodyPr wrap="square" lIns="0" tIns="0" rIns="0" bIns="0" rtlCol="0" anchor="ctr"/>
          <a:lstStyle/>
          <a:p>
            <a:pPr indent="0" marL="0">
              <a:buNone/>
            </a:pPr>
            <a:r>
              <a:rPr lang="en-US" sz="3000" b="1" dirty="0">
                <a:solidFill>
                  <a:srgbClr val="4F4C9A"/>
                </a:solidFill>
                <a:latin typeface="Cambria" pitchFamily="34" charset="0"/>
                <a:ea typeface="Cambria" pitchFamily="34" charset="-122"/>
                <a:cs typeface="Cambria" pitchFamily="34" charset="-120"/>
              </a:rPr>
              <a:t>67.8</a:t>
            </a:r>
            <a:endParaRPr lang="en-US" sz="3000" dirty="0"/>
          </a:p>
        </p:txBody>
      </p:sp>
      <p:sp>
        <p:nvSpPr>
          <p:cNvPr id="13" name="Text 11"/>
          <p:cNvSpPr txBox="1"/>
          <p:nvPr/>
        </p:nvSpPr>
        <p:spPr>
          <a:xfrm>
            <a:off x="731520" y="39044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mean composite score (SD 14.3)</a:t>
            </a:r>
            <a:endParaRPr lang="en-US" sz="1300" dirty="0"/>
          </a:p>
        </p:txBody>
      </p:sp>
      <p:sp>
        <p:nvSpPr>
          <p:cNvPr id="14" name="Stat tile"/>
          <p:cNvSpPr/>
          <p:nvPr/>
        </p:nvSpPr>
        <p:spPr>
          <a:xfrm>
            <a:off x="2423160" y="3154680"/>
            <a:ext cx="1737360" cy="1417320"/>
          </a:xfrm>
          <a:prstGeom prst="roundRect">
            <a:avLst>
              <a:gd name="adj" fmla="val 5161"/>
            </a:avLst>
          </a:prstGeom>
          <a:solidFill>
            <a:schemeClr val="bg2"/>
          </a:solidFill>
          <a:ln/>
        </p:spPr>
      </p:sp>
      <p:sp>
        <p:nvSpPr>
          <p:cNvPr id="15" name="Text 13"/>
          <p:cNvSpPr txBox="1"/>
          <p:nvPr/>
        </p:nvSpPr>
        <p:spPr>
          <a:xfrm>
            <a:off x="2606040" y="3291840"/>
            <a:ext cx="1371600" cy="594360"/>
          </a:xfrm>
          <a:prstGeom prst="rect">
            <a:avLst/>
          </a:prstGeom>
          <a:noFill/>
          <a:ln/>
        </p:spPr>
        <p:txBody>
          <a:bodyPr wrap="square" lIns="0" tIns="0" rIns="0" bIns="0" rtlCol="0" anchor="ctr"/>
          <a:lstStyle/>
          <a:p>
            <a:pPr indent="0" marL="0">
              <a:buNone/>
            </a:pPr>
            <a:r>
              <a:rPr lang="en-US" sz="3000" b="1" dirty="0">
                <a:solidFill>
                  <a:srgbClr val="4F4C9A"/>
                </a:solidFill>
                <a:latin typeface="Cambria" pitchFamily="34" charset="0"/>
                <a:ea typeface="Cambria" pitchFamily="34" charset="-122"/>
                <a:cs typeface="Cambria" pitchFamily="34" charset="-120"/>
              </a:rPr>
              <a:t>80 / 20</a:t>
            </a:r>
            <a:endParaRPr lang="en-US" sz="3000" dirty="0"/>
          </a:p>
        </p:txBody>
      </p:sp>
      <p:sp>
        <p:nvSpPr>
          <p:cNvPr id="16" name="Text 14"/>
          <p:cNvSpPr txBox="1"/>
          <p:nvPr/>
        </p:nvSpPr>
        <p:spPr>
          <a:xfrm>
            <a:off x="2606040" y="3904488"/>
            <a:ext cx="1371600" cy="548640"/>
          </a:xfrm>
          <a:prstGeom prst="rect">
            <a:avLst/>
          </a:prstGeom>
          <a:noFill/>
          <a:ln/>
        </p:spPr>
        <p:txBody>
          <a:bodyPr wrap="square" lIns="0" tIns="0" rIns="0" bIns="0" rtlCol="0" anchor="t"/>
          <a:lstStyle/>
          <a:p>
            <a:pPr indent="0" marL="0">
              <a:buNone/>
            </a:pPr>
            <a:r>
              <a:rPr lang="en-US" sz="1300" dirty="0">
                <a:solidFill>
                  <a:schemeClr val="accent6"/>
                </a:solidFill>
              </a:rPr>
              <a:t>split: 800 train, 200 test students</a:t>
            </a:r>
            <a:endParaRPr lang="en-US" sz="1300" dirty="0"/>
          </a:p>
        </p:txBody>
      </p:sp>
      <p:sp>
        <p:nvSpPr>
          <p:cNvPr id="17" name="Shape 15"/>
          <p:cNvSpPr/>
          <p:nvPr/>
        </p:nvSpPr>
        <p:spPr>
          <a:xfrm>
            <a:off x="4526280" y="1572768"/>
            <a:ext cx="960120" cy="384048"/>
          </a:xfrm>
          <a:prstGeom prst="roundRect">
            <a:avLst>
              <a:gd name="adj" fmla="val 50000"/>
            </a:avLst>
          </a:prstGeom>
          <a:solidFill>
            <a:srgbClr val="DCDBEE"/>
          </a:solidFill>
          <a:ln/>
        </p:spPr>
      </p:sp>
      <p:sp>
        <p:nvSpPr>
          <p:cNvPr id="18" name="Text 16"/>
          <p:cNvSpPr txBox="1"/>
          <p:nvPr/>
        </p:nvSpPr>
        <p:spPr>
          <a:xfrm>
            <a:off x="4526280" y="1572768"/>
            <a:ext cx="960120" cy="384048"/>
          </a:xfrm>
          <a:prstGeom prst="rect">
            <a:avLst/>
          </a:prstGeom>
          <a:noFill/>
          <a:ln/>
        </p:spPr>
        <p:txBody>
          <a:bodyPr wrap="square" lIns="0" tIns="0" rIns="0" bIns="0" rtlCol="0" anchor="ctr"/>
          <a:lstStyle/>
          <a:p>
            <a:pPr algn="ctr" indent="0" marL="0">
              <a:buNone/>
            </a:pPr>
            <a:r>
              <a:rPr lang="en-US" sz="1300" dirty="0">
                <a:solidFill>
                  <a:schemeClr val="tx2"/>
                </a:solidFill>
              </a:rPr>
              <a:t>gender</a:t>
            </a:r>
            <a:endParaRPr lang="en-US" sz="1300" dirty="0"/>
          </a:p>
        </p:txBody>
      </p:sp>
      <p:sp>
        <p:nvSpPr>
          <p:cNvPr id="19" name="Shape 17"/>
          <p:cNvSpPr/>
          <p:nvPr/>
        </p:nvSpPr>
        <p:spPr>
          <a:xfrm>
            <a:off x="5605272" y="1572768"/>
            <a:ext cx="1371600" cy="384048"/>
          </a:xfrm>
          <a:prstGeom prst="roundRect">
            <a:avLst>
              <a:gd name="adj" fmla="val 50000"/>
            </a:avLst>
          </a:prstGeom>
          <a:solidFill>
            <a:srgbClr val="DCDBEE"/>
          </a:solidFill>
          <a:ln/>
        </p:spPr>
      </p:sp>
      <p:sp>
        <p:nvSpPr>
          <p:cNvPr id="20" name="Text 18"/>
          <p:cNvSpPr txBox="1"/>
          <p:nvPr/>
        </p:nvSpPr>
        <p:spPr>
          <a:xfrm>
            <a:off x="5605272" y="1572768"/>
            <a:ext cx="1371600" cy="384048"/>
          </a:xfrm>
          <a:prstGeom prst="rect">
            <a:avLst/>
          </a:prstGeom>
          <a:noFill/>
          <a:ln/>
        </p:spPr>
        <p:txBody>
          <a:bodyPr wrap="square" lIns="0" tIns="0" rIns="0" bIns="0" rtlCol="0" anchor="ctr"/>
          <a:lstStyle/>
          <a:p>
            <a:pPr algn="ctr" indent="0" marL="0">
              <a:buNone/>
            </a:pPr>
            <a:r>
              <a:rPr lang="en-US" sz="1300" dirty="0">
                <a:solidFill>
                  <a:schemeClr val="tx2"/>
                </a:solidFill>
              </a:rPr>
              <a:t>race/ethnicity</a:t>
            </a:r>
            <a:endParaRPr lang="en-US" sz="1300" dirty="0"/>
          </a:p>
        </p:txBody>
      </p:sp>
      <p:sp>
        <p:nvSpPr>
          <p:cNvPr id="21" name="Shape 19"/>
          <p:cNvSpPr/>
          <p:nvPr/>
        </p:nvSpPr>
        <p:spPr>
          <a:xfrm>
            <a:off x="7095744" y="1572768"/>
            <a:ext cx="1783080" cy="384048"/>
          </a:xfrm>
          <a:prstGeom prst="roundRect">
            <a:avLst>
              <a:gd name="adj" fmla="val 50000"/>
            </a:avLst>
          </a:prstGeom>
          <a:solidFill>
            <a:srgbClr val="DCDBEE"/>
          </a:solidFill>
          <a:ln/>
        </p:spPr>
      </p:sp>
      <p:sp>
        <p:nvSpPr>
          <p:cNvPr id="22" name="Text 20"/>
          <p:cNvSpPr txBox="1"/>
          <p:nvPr/>
        </p:nvSpPr>
        <p:spPr>
          <a:xfrm>
            <a:off x="7095744" y="1572768"/>
            <a:ext cx="1783080" cy="384048"/>
          </a:xfrm>
          <a:prstGeom prst="rect">
            <a:avLst/>
          </a:prstGeom>
          <a:noFill/>
          <a:ln/>
        </p:spPr>
        <p:txBody>
          <a:bodyPr wrap="square" lIns="0" tIns="0" rIns="0" bIns="0" rtlCol="0" anchor="ctr"/>
          <a:lstStyle/>
          <a:p>
            <a:pPr algn="ctr" indent="0" marL="0">
              <a:buNone/>
            </a:pPr>
            <a:r>
              <a:rPr lang="en-US" sz="1300" dirty="0">
                <a:solidFill>
                  <a:schemeClr val="tx2"/>
                </a:solidFill>
              </a:rPr>
              <a:t>parental education</a:t>
            </a:r>
            <a:endParaRPr lang="en-US" sz="1300" dirty="0"/>
          </a:p>
        </p:txBody>
      </p:sp>
      <p:sp>
        <p:nvSpPr>
          <p:cNvPr id="23" name="Shape 21"/>
          <p:cNvSpPr/>
          <p:nvPr/>
        </p:nvSpPr>
        <p:spPr>
          <a:xfrm>
            <a:off x="8997696" y="1572768"/>
            <a:ext cx="822960" cy="384048"/>
          </a:xfrm>
          <a:prstGeom prst="roundRect">
            <a:avLst>
              <a:gd name="adj" fmla="val 50000"/>
            </a:avLst>
          </a:prstGeom>
          <a:solidFill>
            <a:srgbClr val="DCDBEE"/>
          </a:solidFill>
          <a:ln/>
        </p:spPr>
      </p:sp>
      <p:sp>
        <p:nvSpPr>
          <p:cNvPr id="24" name="Text 22"/>
          <p:cNvSpPr txBox="1"/>
          <p:nvPr/>
        </p:nvSpPr>
        <p:spPr>
          <a:xfrm>
            <a:off x="8997696" y="1572768"/>
            <a:ext cx="822960" cy="384048"/>
          </a:xfrm>
          <a:prstGeom prst="rect">
            <a:avLst/>
          </a:prstGeom>
          <a:noFill/>
          <a:ln/>
        </p:spPr>
        <p:txBody>
          <a:bodyPr wrap="square" lIns="0" tIns="0" rIns="0" bIns="0" rtlCol="0" anchor="ctr"/>
          <a:lstStyle/>
          <a:p>
            <a:pPr algn="ctr" indent="0" marL="0">
              <a:buNone/>
            </a:pPr>
            <a:r>
              <a:rPr lang="en-US" sz="1300" dirty="0">
                <a:solidFill>
                  <a:schemeClr val="tx2"/>
                </a:solidFill>
              </a:rPr>
              <a:t>lunch</a:t>
            </a:r>
            <a:endParaRPr lang="en-US" sz="1300" dirty="0"/>
          </a:p>
        </p:txBody>
      </p:sp>
      <p:sp>
        <p:nvSpPr>
          <p:cNvPr id="25" name="Shape 23"/>
          <p:cNvSpPr/>
          <p:nvPr/>
        </p:nvSpPr>
        <p:spPr>
          <a:xfrm>
            <a:off x="9939528" y="1572768"/>
            <a:ext cx="1691640" cy="384048"/>
          </a:xfrm>
          <a:prstGeom prst="roundRect">
            <a:avLst>
              <a:gd name="adj" fmla="val 50000"/>
            </a:avLst>
          </a:prstGeom>
          <a:solidFill>
            <a:srgbClr val="DCDBEE"/>
          </a:solidFill>
          <a:ln/>
        </p:spPr>
      </p:sp>
      <p:sp>
        <p:nvSpPr>
          <p:cNvPr id="26" name="Text 24"/>
          <p:cNvSpPr txBox="1"/>
          <p:nvPr/>
        </p:nvSpPr>
        <p:spPr>
          <a:xfrm>
            <a:off x="9939528" y="1572768"/>
            <a:ext cx="1691640" cy="384048"/>
          </a:xfrm>
          <a:prstGeom prst="rect">
            <a:avLst/>
          </a:prstGeom>
          <a:noFill/>
          <a:ln/>
        </p:spPr>
        <p:txBody>
          <a:bodyPr wrap="square" lIns="0" tIns="0" rIns="0" bIns="0" rtlCol="0" anchor="ctr"/>
          <a:lstStyle/>
          <a:p>
            <a:pPr algn="ctr" indent="0" marL="0">
              <a:buNone/>
            </a:pPr>
            <a:r>
              <a:rPr lang="en-US" sz="1300" dirty="0">
                <a:solidFill>
                  <a:schemeClr val="tx2"/>
                </a:solidFill>
              </a:rPr>
              <a:t>test preparation</a:t>
            </a:r>
            <a:endParaRPr lang="en-US" sz="1300" dirty="0"/>
          </a:p>
        </p:txBody>
      </p:sp>
      <p:sp>
        <p:nvSpPr>
          <p:cNvPr id="27" name="Shape 25"/>
          <p:cNvSpPr/>
          <p:nvPr/>
        </p:nvSpPr>
        <p:spPr>
          <a:xfrm>
            <a:off x="4526280" y="2331720"/>
            <a:ext cx="457200" cy="457200"/>
          </a:xfrm>
          <a:prstGeom prst="ellipse">
            <a:avLst/>
          </a:prstGeom>
          <a:solidFill>
            <a:srgbClr val="4F4C9A"/>
          </a:solidFill>
          <a:ln/>
        </p:spPr>
      </p:sp>
      <p:sp>
        <p:nvSpPr>
          <p:cNvPr id="28" name="Text 26"/>
          <p:cNvSpPr txBox="1"/>
          <p:nvPr/>
        </p:nvSpPr>
        <p:spPr>
          <a:xfrm>
            <a:off x="4526280" y="23317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9" name="Text 27"/>
          <p:cNvSpPr txBox="1"/>
          <p:nvPr/>
        </p:nvSpPr>
        <p:spPr>
          <a:xfrm>
            <a:off x="5166360" y="2286000"/>
            <a:ext cx="6473952" cy="914400"/>
          </a:xfrm>
          <a:prstGeom prst="rect">
            <a:avLst/>
          </a:prstGeom>
          <a:noFill/>
          <a:ln/>
        </p:spPr>
        <p:txBody>
          <a:bodyPr wrap="square" lIns="0" tIns="0" rIns="0" bIns="0" rtlCol="0" anchor="t"/>
          <a:lstStyle/>
          <a:p>
            <a:pPr indent="0" marL="0">
              <a:buNone/>
            </a:pPr>
            <a:r>
              <a:rPr lang="en-US" sz="1500" b="1" dirty="0">
                <a:solidFill>
                  <a:schemeClr val="tx2"/>
                </a:solidFill>
              </a:rPr>
              <a:t>Removed the maths, reading and writing scores</a:t>
            </a:r>
            <a:endParaRPr lang="en-US" sz="1500" dirty="0"/>
          </a:p>
          <a:p>
            <a:pPr indent="0" marL="0">
              <a:buNone/>
            </a:pPr>
            <a:r>
              <a:rPr lang="en-US" sz="1300" dirty="0">
                <a:solidFill>
                  <a:schemeClr val="tx1"/>
                </a:solidFill>
              </a:rPr>
              <a:t>The target is their mean, so keeping them would leak it.</a:t>
            </a:r>
            <a:endParaRPr lang="en-US" sz="1500" dirty="0"/>
          </a:p>
        </p:txBody>
      </p:sp>
      <p:sp>
        <p:nvSpPr>
          <p:cNvPr id="30" name="Shape 28"/>
          <p:cNvSpPr/>
          <p:nvPr/>
        </p:nvSpPr>
        <p:spPr>
          <a:xfrm>
            <a:off x="4526280" y="3383280"/>
            <a:ext cx="457200" cy="457200"/>
          </a:xfrm>
          <a:prstGeom prst="ellipse">
            <a:avLst/>
          </a:prstGeom>
          <a:solidFill>
            <a:srgbClr val="4F4C9A"/>
          </a:solidFill>
          <a:ln/>
        </p:spPr>
      </p:sp>
      <p:sp>
        <p:nvSpPr>
          <p:cNvPr id="31" name="Text 29"/>
          <p:cNvSpPr txBox="1"/>
          <p:nvPr/>
        </p:nvSpPr>
        <p:spPr>
          <a:xfrm>
            <a:off x="4526280" y="3383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2" name="Text 30"/>
          <p:cNvSpPr txBox="1"/>
          <p:nvPr/>
        </p:nvSpPr>
        <p:spPr>
          <a:xfrm>
            <a:off x="5166360" y="3337560"/>
            <a:ext cx="6473952" cy="914400"/>
          </a:xfrm>
          <a:prstGeom prst="rect">
            <a:avLst/>
          </a:prstGeom>
          <a:noFill/>
          <a:ln/>
        </p:spPr>
        <p:txBody>
          <a:bodyPr wrap="square" lIns="0" tIns="0" rIns="0" bIns="0" rtlCol="0" anchor="t"/>
          <a:lstStyle/>
          <a:p>
            <a:pPr indent="0" marL="0">
              <a:buNone/>
            </a:pPr>
            <a:r>
              <a:rPr lang="en-US" sz="1500" b="1" dirty="0">
                <a:solidFill>
                  <a:schemeClr val="tx2"/>
                </a:solidFill>
              </a:rPr>
              <a:t>One-hot encoding inside the Pipeline</a:t>
            </a:r>
            <a:endParaRPr lang="en-US" sz="1500" dirty="0"/>
          </a:p>
          <a:p>
            <a:pPr indent="0" marL="0">
              <a:buNone/>
            </a:pPr>
            <a:r>
              <a:rPr lang="en-US" sz="1300" dirty="0">
                <a:solidFill>
                  <a:schemeClr val="tx1"/>
                </a:solidFill>
              </a:rPr>
              <a:t>Unseen levels ignored; no scaling, since there are no numeric predictors.</a:t>
            </a:r>
            <a:endParaRPr lang="en-US" sz="1500" dirty="0"/>
          </a:p>
        </p:txBody>
      </p:sp>
      <p:sp>
        <p:nvSpPr>
          <p:cNvPr id="33" name="Shape 31"/>
          <p:cNvSpPr/>
          <p:nvPr/>
        </p:nvSpPr>
        <p:spPr>
          <a:xfrm>
            <a:off x="4526280" y="4434840"/>
            <a:ext cx="457200" cy="457200"/>
          </a:xfrm>
          <a:prstGeom prst="ellipse">
            <a:avLst/>
          </a:prstGeom>
          <a:solidFill>
            <a:srgbClr val="4F4C9A"/>
          </a:solidFill>
          <a:ln/>
        </p:spPr>
      </p:sp>
      <p:sp>
        <p:nvSpPr>
          <p:cNvPr id="34" name="Text 32"/>
          <p:cNvSpPr txBox="1"/>
          <p:nvPr/>
        </p:nvSpPr>
        <p:spPr>
          <a:xfrm>
            <a:off x="4526280" y="44348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5" name="Text 33"/>
          <p:cNvSpPr txBox="1"/>
          <p:nvPr/>
        </p:nvSpPr>
        <p:spPr>
          <a:xfrm>
            <a:off x="5166360" y="4389120"/>
            <a:ext cx="6473952" cy="914400"/>
          </a:xfrm>
          <a:prstGeom prst="rect">
            <a:avLst/>
          </a:prstGeom>
          <a:noFill/>
          <a:ln/>
        </p:spPr>
        <p:txBody>
          <a:bodyPr wrap="square" lIns="0" tIns="0" rIns="0" bIns="0" rtlCol="0" anchor="t"/>
          <a:lstStyle/>
          <a:p>
            <a:pPr indent="0" marL="0">
              <a:buNone/>
            </a:pPr>
            <a:r>
              <a:rPr lang="en-US" sz="1500" b="1" dirty="0">
                <a:solidFill>
                  <a:schemeClr val="tx2"/>
                </a:solidFill>
              </a:rPr>
              <a:t>Shallow models chosen by tuning</a:t>
            </a:r>
            <a:endParaRPr lang="en-US" sz="1500" dirty="0"/>
          </a:p>
          <a:p>
            <a:pPr indent="0" marL="0">
              <a:buNone/>
            </a:pPr>
            <a:r>
              <a:rPr lang="en-US" sz="1300" dirty="0">
                <a:solidFill>
                  <a:schemeClr val="tx1"/>
                </a:solidFill>
              </a:rPr>
              <a:t>Tree: depth 3, leaf 10. Forest: 300 trees, depth 5, sqrt features.</a:t>
            </a:r>
            <a:endParaRPr lang="en-US" sz="1500" dirty="0"/>
          </a:p>
        </p:txBody>
      </p:sp>
      <p:sp>
        <p:nvSpPr>
          <p:cNvPr id="36" name="Text 34"/>
          <p:cNvSpPr txBox="1"/>
          <p:nvPr/>
        </p:nvSpPr>
        <p:spPr>
          <a:xfrm>
            <a:off x="4526280" y="5532120"/>
            <a:ext cx="7114032" cy="502920"/>
          </a:xfrm>
          <a:prstGeom prst="rect">
            <a:avLst/>
          </a:prstGeom>
          <a:noFill/>
          <a:ln/>
        </p:spPr>
        <p:txBody>
          <a:bodyPr wrap="square" lIns="0" tIns="0" rIns="0" bIns="0" rtlCol="0" anchor="t"/>
          <a:lstStyle/>
          <a:p>
            <a:pPr indent="0" marL="0">
              <a:buNone/>
            </a:pPr>
            <a:r>
              <a:rPr lang="en-US" sz="1200" i="1" dirty="0">
                <a:solidFill>
                  <a:schemeClr val="accent6"/>
                </a:solidFill>
              </a:rPr>
              <a:t>Stage 1: scores rose from 63.1 (high school) to 73.6 (master's) with parental education; ANOVA F = 10.75, p &lt; 0.001.</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AKIL VENKATESHKUMAR</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Akil: linear regression best, but R² is low</a:t>
            </a:r>
            <a:endParaRPr lang="en-US" sz="3200" dirty="0"/>
          </a:p>
        </p:txBody>
      </p:sp>
      <p:graphicFrame>
        <p:nvGraphicFramePr>
          <p:cNvPr id="5" name="R2 chart" descr=""/>
          <p:cNvGraphicFramePr/>
          <p:nvPr/>
        </p:nvGraphicFramePr>
        <p:xfrm>
          <a:off x="548640" y="146304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80960" y="1600200"/>
            <a:ext cx="3959352" cy="566928"/>
          </a:xfrm>
          <a:prstGeom prst="rect">
            <a:avLst/>
          </a:prstGeom>
          <a:noFill/>
          <a:ln/>
        </p:spPr>
        <p:txBody>
          <a:bodyPr wrap="square" lIns="0" tIns="0" rIns="0" bIns="0" rtlCol="0" anchor="b"/>
          <a:lstStyle/>
          <a:p>
            <a:pPr indent="0" marL="0">
              <a:buNone/>
            </a:pPr>
            <a:r>
              <a:rPr lang="en-US" sz="3200" b="1" dirty="0">
                <a:solidFill>
                  <a:srgbClr val="1B7F79"/>
                </a:solidFill>
                <a:latin typeface="Cambria" pitchFamily="34" charset="0"/>
                <a:ea typeface="Cambria" pitchFamily="34" charset="-122"/>
                <a:cs typeface="Cambria" pitchFamily="34" charset="-120"/>
              </a:rPr>
              <a:t>0.162</a:t>
            </a:r>
            <a:endParaRPr lang="en-US" sz="3200" dirty="0"/>
          </a:p>
        </p:txBody>
      </p:sp>
      <p:sp>
        <p:nvSpPr>
          <p:cNvPr id="7" name="Text 4"/>
          <p:cNvSpPr txBox="1"/>
          <p:nvPr/>
        </p:nvSpPr>
        <p:spPr>
          <a:xfrm>
            <a:off x="7680960" y="2203704"/>
            <a:ext cx="3959352" cy="722376"/>
          </a:xfrm>
          <a:prstGeom prst="rect">
            <a:avLst/>
          </a:prstGeom>
          <a:noFill/>
          <a:ln/>
        </p:spPr>
        <p:txBody>
          <a:bodyPr wrap="square" lIns="0" tIns="0" rIns="0" bIns="0" rtlCol="0" anchor="t"/>
          <a:lstStyle/>
          <a:p>
            <a:pPr indent="0" marL="0">
              <a:buNone/>
            </a:pPr>
            <a:r>
              <a:rPr lang="en-US" sz="1400" dirty="0">
                <a:solidFill>
                  <a:schemeClr val="tx1"/>
                </a:solidFill>
              </a:rPr>
              <a:t>best test R² (linear regression); random forest ties within 1 SD in CV</a:t>
            </a:r>
            <a:endParaRPr lang="en-US" sz="1400" dirty="0"/>
          </a:p>
        </p:txBody>
      </p:sp>
      <p:sp>
        <p:nvSpPr>
          <p:cNvPr id="8" name="Text 5"/>
          <p:cNvSpPr txBox="1"/>
          <p:nvPr/>
        </p:nvSpPr>
        <p:spPr>
          <a:xfrm>
            <a:off x="7680960" y="3017520"/>
            <a:ext cx="3959352" cy="566928"/>
          </a:xfrm>
          <a:prstGeom prst="rect">
            <a:avLst/>
          </a:prstGeom>
          <a:noFill/>
          <a:ln/>
        </p:spPr>
        <p:txBody>
          <a:bodyPr wrap="square" lIns="0" tIns="0" rIns="0" bIns="0" rtlCol="0" anchor="b"/>
          <a:lstStyle/>
          <a:p>
            <a:pPr indent="0" marL="0">
              <a:buNone/>
            </a:pPr>
            <a:r>
              <a:rPr lang="en-US" sz="3200" b="1" dirty="0">
                <a:solidFill>
                  <a:srgbClr val="D1495B"/>
                </a:solidFill>
                <a:latin typeface="Cambria" pitchFamily="34" charset="0"/>
                <a:ea typeface="Cambria" pitchFamily="34" charset="-122"/>
                <a:cs typeface="Cambria" pitchFamily="34" charset="-120"/>
              </a:rPr>
              <a:t>10.5 points</a:t>
            </a:r>
            <a:endParaRPr lang="en-US" sz="3200" dirty="0"/>
          </a:p>
        </p:txBody>
      </p:sp>
      <p:sp>
        <p:nvSpPr>
          <p:cNvPr id="9" name="Text 6"/>
          <p:cNvSpPr txBox="1"/>
          <p:nvPr/>
        </p:nvSpPr>
        <p:spPr>
          <a:xfrm>
            <a:off x="7680960" y="3621024"/>
            <a:ext cx="3959352" cy="722376"/>
          </a:xfrm>
          <a:prstGeom prst="rect">
            <a:avLst/>
          </a:prstGeom>
          <a:noFill/>
          <a:ln/>
        </p:spPr>
        <p:txBody>
          <a:bodyPr wrap="square" lIns="0" tIns="0" rIns="0" bIns="0" rtlCol="0" anchor="t"/>
          <a:lstStyle/>
          <a:p>
            <a:pPr indent="0" marL="0">
              <a:buNone/>
            </a:pPr>
            <a:r>
              <a:rPr lang="en-US" sz="1400" dirty="0">
                <a:solidFill>
                  <a:schemeClr val="tx1"/>
                </a:solidFill>
              </a:rPr>
              <a:t>mean absolute error; RMSE is 91% of the target SD</a:t>
            </a:r>
            <a:endParaRPr lang="en-US" sz="1400" dirty="0"/>
          </a:p>
        </p:txBody>
      </p:sp>
      <p:sp>
        <p:nvSpPr>
          <p:cNvPr id="10" name="Text 7"/>
          <p:cNvSpPr txBox="1"/>
          <p:nvPr/>
        </p:nvSpPr>
        <p:spPr>
          <a:xfrm>
            <a:off x="7680960" y="4434840"/>
            <a:ext cx="3959352" cy="566928"/>
          </a:xfrm>
          <a:prstGeom prst="rect">
            <a:avLst/>
          </a:prstGeom>
          <a:noFill/>
          <a:ln/>
        </p:spPr>
        <p:txBody>
          <a:bodyPr wrap="square" lIns="0" tIns="0" rIns="0" bIns="0" rtlCol="0" anchor="b"/>
          <a:lstStyle/>
          <a:p>
            <a:pPr indent="0" marL="0">
              <a:buNone/>
            </a:pPr>
            <a:r>
              <a:rPr lang="en-US" sz="3200" b="1" dirty="0">
                <a:solidFill>
                  <a:srgbClr val="12343B"/>
                </a:solidFill>
                <a:latin typeface="Cambria" pitchFamily="34" charset="0"/>
                <a:ea typeface="Cambria" pitchFamily="34" charset="-122"/>
                <a:cs typeface="Cambria" pitchFamily="34" charset="-120"/>
              </a:rPr>
              <a:t>+4.6 and +3.9</a:t>
            </a:r>
            <a:endParaRPr lang="en-US" sz="3200" dirty="0"/>
          </a:p>
        </p:txBody>
      </p:sp>
      <p:sp>
        <p:nvSpPr>
          <p:cNvPr id="11" name="Text 8"/>
          <p:cNvSpPr txBox="1"/>
          <p:nvPr/>
        </p:nvSpPr>
        <p:spPr>
          <a:xfrm>
            <a:off x="7680960" y="5038344"/>
            <a:ext cx="3959352" cy="722376"/>
          </a:xfrm>
          <a:prstGeom prst="rect">
            <a:avLst/>
          </a:prstGeom>
          <a:noFill/>
          <a:ln/>
        </p:spPr>
        <p:txBody>
          <a:bodyPr wrap="square" lIns="0" tIns="0" rIns="0" bIns="0" rtlCol="0" anchor="t"/>
          <a:lstStyle/>
          <a:p>
            <a:pPr indent="0" marL="0">
              <a:buNone/>
            </a:pPr>
            <a:r>
              <a:rPr lang="en-US" sz="1400" dirty="0">
                <a:solidFill>
                  <a:schemeClr val="tx1"/>
                </a:solidFill>
              </a:rPr>
              <a:t>points for standard lunch and a completed test preparation course</a:t>
            </a:r>
            <a:endParaRPr lang="en-US" sz="1400" dirty="0"/>
          </a:p>
        </p:txBody>
      </p:sp>
      <p:sp>
        <p:nvSpPr>
          <p:cNvPr id="12" name="Text 9"/>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200" i="1" dirty="0">
                <a:solidFill>
                  <a:schemeClr val="accent6"/>
                </a:solidFill>
              </a:rPr>
              <a:t>Random forest importance: lunch type (0.175, 0.160) and test preparation (0.134, 0.128) lead.</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AKIL VENKATESHKUMAR</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No single winner across datasets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337560"/>
                <a:gridCol w="1920240"/>
                <a:gridCol w="1920240"/>
                <a:gridCol w="1920240"/>
                <a:gridCol w="1996135"/>
              </a:tblGrid>
              <a:tr h="384048">
                <a:tc>
                  <a:txBody>
                    <a:bodyPr/>
                    <a:lstStyle/>
                    <a:p>
                      <a:pPr algn="l" indent="0" marL="0">
                        <a:buNone/>
                      </a:pPr>
                      <a:r>
                        <a:rPr lang="en-US" sz="1300" b="1" dirty="0">
                          <a:solidFill>
                            <a:srgbClr val="FFFFFF"/>
                          </a:solidFill>
                        </a:rPr>
                        <a:t>Setting</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300" b="1" dirty="0">
                          <a:solidFill>
                            <a:srgbClr val="FFFFFF"/>
                          </a:solidFill>
                        </a:rPr>
                        <a:t>Linear regression</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300" b="1" dirty="0">
                          <a:solidFill>
                            <a:srgbClr val="FFFFFF"/>
                          </a:solidFill>
                        </a:rPr>
                        <a:t>Decision tree</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300" b="1" dirty="0">
                          <a:solidFill>
                            <a:srgbClr val="FFFFFF"/>
                          </a:solidFill>
                        </a:rPr>
                        <a:t>Random forest</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300" b="1" dirty="0">
                          <a:solidFill>
                            <a:srgbClr val="FFFFFF"/>
                          </a:solidFill>
                        </a:rPr>
                        <a:t>Best</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12343B"/>
                    </a:solidFill>
                  </a:tcPr>
                </a:tc>
              </a:tr>
              <a:tr h="512064">
                <a:tc>
                  <a:txBody>
                    <a:bodyPr/>
                    <a:lstStyle/>
                    <a:p>
                      <a:pPr indent="0" marL="0">
                        <a:buNone/>
                      </a:pPr>
                      <a:r>
                        <a:rPr lang="en-US" sz="1300" b="1" dirty="0">
                          <a:solidFill>
                            <a:srgbClr val="12343B"/>
                          </a:solidFill>
                        </a:rPr>
                        <a:t>Ngoc An, with G1 and G2</a:t>
                      </a:r>
                      <a:endParaRPr lang="en-US" sz="1200" dirty="0"/>
                    </a:p>
                    <a:p>
                      <a:pPr indent="0" marL="0">
                        <a:buNone/>
                      </a:pPr>
                      <a:r>
                        <a:rPr lang="en-US" sz="1000" dirty="0">
                          <a:solidFill>
                            <a:srgbClr val="5D6D73"/>
                          </a:solidFill>
                        </a:rPr>
                        <a:t>395 students</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0.724</a:t>
                      </a:r>
                      <a:endParaRPr lang="en-US" sz="1200" dirty="0"/>
                    </a:p>
                    <a:p>
                      <a:pPr algn="ctr" indent="0" marL="0">
                        <a:buNone/>
                      </a:pPr>
                      <a:r>
                        <a:rPr lang="en-US" sz="1000" dirty="0">
                          <a:solidFill>
                            <a:srgbClr val="5D6D73"/>
                          </a:solidFill>
                        </a:rPr>
                        <a:t>CV 0.804 ± 0.035</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0.704</a:t>
                      </a:r>
                      <a:endParaRPr lang="en-US" sz="1200" dirty="0"/>
                    </a:p>
                    <a:p>
                      <a:pPr algn="ctr" indent="0" marL="0">
                        <a:buNone/>
                      </a:pPr>
                      <a:r>
                        <a:rPr lang="en-US" sz="1000" dirty="0">
                          <a:solidFill>
                            <a:srgbClr val="5D6D73"/>
                          </a:solidFill>
                        </a:rPr>
                        <a:t>CV 0.852 ± 0.059</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0.829</a:t>
                      </a:r>
                      <a:endParaRPr lang="en-US" sz="1200" dirty="0"/>
                    </a:p>
                    <a:p>
                      <a:pPr algn="ctr" indent="0" marL="0">
                        <a:buNone/>
                      </a:pPr>
                      <a:r>
                        <a:rPr lang="en-US" sz="1000" dirty="0">
                          <a:solidFill>
                            <a:srgbClr val="5D6D73"/>
                          </a:solidFill>
                        </a:rPr>
                        <a:t>CV 0.883 ± 0.036</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DBEE"/>
                    </a:solidFill>
                  </a:tcPr>
                </a:tc>
                <a:tc>
                  <a:txBody>
                    <a:bodyPr/>
                    <a:lstStyle/>
                    <a:p>
                      <a:pPr algn="ctr" indent="0" marL="0">
                        <a:buNone/>
                      </a:pPr>
                      <a:r>
                        <a:rPr lang="en-US" sz="1300" b="1" dirty="0">
                          <a:solidFill>
                            <a:srgbClr val="12343B"/>
                          </a:solidFill>
                        </a:rPr>
                        <a:t>Random forest</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2343B"/>
                          </a:solidFill>
                        </a:rPr>
                        <a:t>Ngoc An, without G1 and G2</a:t>
                      </a:r>
                      <a:endParaRPr lang="en-US" sz="1200" dirty="0"/>
                    </a:p>
                    <a:p>
                      <a:pPr indent="0" marL="0">
                        <a:buNone/>
                      </a:pPr>
                      <a:r>
                        <a:rPr lang="en-US" sz="1000" dirty="0">
                          <a:solidFill>
                            <a:srgbClr val="5D6D73"/>
                          </a:solidFill>
                        </a:rPr>
                        <a:t>395 students</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0.141</a:t>
                      </a:r>
                      <a:endParaRPr lang="en-US" sz="1200" dirty="0"/>
                    </a:p>
                    <a:p>
                      <a:pPr algn="ctr" indent="0" marL="0">
                        <a:buNone/>
                      </a:pPr>
                      <a:r>
                        <a:rPr lang="en-US" sz="1000" dirty="0">
                          <a:solidFill>
                            <a:srgbClr val="5D6D73"/>
                          </a:solidFill>
                        </a:rPr>
                        <a:t>CV −0.092 ± 0.250</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0.058</a:t>
                      </a:r>
                      <a:endParaRPr lang="en-US" sz="1200" dirty="0"/>
                    </a:p>
                    <a:p>
                      <a:pPr algn="ctr" indent="0" marL="0">
                        <a:buNone/>
                      </a:pPr>
                      <a:r>
                        <a:rPr lang="en-US" sz="1000" dirty="0">
                          <a:solidFill>
                            <a:srgbClr val="5D6D73"/>
                          </a:solidFill>
                        </a:rPr>
                        <a:t>CV 0.128 ± 0.207</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0.242</a:t>
                      </a:r>
                      <a:endParaRPr lang="en-US" sz="1200" dirty="0"/>
                    </a:p>
                    <a:p>
                      <a:pPr algn="ctr" indent="0" marL="0">
                        <a:buNone/>
                      </a:pPr>
                      <a:r>
                        <a:rPr lang="en-US" sz="1000" dirty="0">
                          <a:solidFill>
                            <a:srgbClr val="5D6D73"/>
                          </a:solidFill>
                        </a:rPr>
                        <a:t>CV 0.232 ± 0.097</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DBEE"/>
                    </a:solidFill>
                  </a:tcPr>
                </a:tc>
                <a:tc>
                  <a:txBody>
                    <a:bodyPr/>
                    <a:lstStyle/>
                    <a:p>
                      <a:pPr algn="ctr" indent="0" marL="0">
                        <a:buNone/>
                      </a:pPr>
                      <a:r>
                        <a:rPr lang="en-US" sz="1300" b="1" dirty="0">
                          <a:solidFill>
                            <a:srgbClr val="12343B"/>
                          </a:solidFill>
                        </a:rPr>
                        <a:t>Random forest</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2343B"/>
                          </a:solidFill>
                        </a:rPr>
                        <a:t>Quang Trung, behaviour only</a:t>
                      </a:r>
                      <a:endParaRPr lang="en-US" sz="1200" dirty="0"/>
                    </a:p>
                    <a:p>
                      <a:pPr indent="0" marL="0">
                        <a:buNone/>
                      </a:pPr>
                      <a:r>
                        <a:rPr lang="en-US" sz="1000" dirty="0">
                          <a:solidFill>
                            <a:srgbClr val="5D6D73"/>
                          </a:solidFill>
                        </a:rPr>
                        <a:t>1,000 students</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0.386</a:t>
                      </a:r>
                      <a:endParaRPr lang="en-US" sz="1200" dirty="0"/>
                    </a:p>
                    <a:p>
                      <a:pPr algn="ctr" indent="0" marL="0">
                        <a:buNone/>
                      </a:pPr>
                      <a:r>
                        <a:rPr lang="en-US" sz="1000" dirty="0">
                          <a:solidFill>
                            <a:srgbClr val="5D6D73"/>
                          </a:solidFill>
                        </a:rPr>
                        <a:t>CV 0.480 ± 0.032</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3EAE8"/>
                    </a:solidFill>
                  </a:tcPr>
                </a:tc>
                <a:tc>
                  <a:txBody>
                    <a:bodyPr/>
                    <a:lstStyle/>
                    <a:p>
                      <a:pPr algn="ctr" indent="0" marL="0">
                        <a:buNone/>
                      </a:pPr>
                      <a:r>
                        <a:rPr lang="en-US" sz="1500" b="1" dirty="0">
                          <a:solidFill>
                            <a:srgbClr val="1F2A30"/>
                          </a:solidFill>
                        </a:rPr>
                        <a:t>0.269</a:t>
                      </a:r>
                      <a:endParaRPr lang="en-US" sz="1200" dirty="0"/>
                    </a:p>
                    <a:p>
                      <a:pPr algn="ctr" indent="0" marL="0">
                        <a:buNone/>
                      </a:pPr>
                      <a:r>
                        <a:rPr lang="en-US" sz="1000" dirty="0">
                          <a:solidFill>
                            <a:srgbClr val="5D6D73"/>
                          </a:solidFill>
                        </a:rPr>
                        <a:t>CV 0.328 ± 0.080</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0.338</a:t>
                      </a:r>
                      <a:endParaRPr lang="en-US" sz="1200" dirty="0"/>
                    </a:p>
                    <a:p>
                      <a:pPr algn="ctr" indent="0" marL="0">
                        <a:buNone/>
                      </a:pPr>
                      <a:r>
                        <a:rPr lang="en-US" sz="1000" dirty="0">
                          <a:solidFill>
                            <a:srgbClr val="5D6D73"/>
                          </a:solidFill>
                        </a:rPr>
                        <a:t>CV 0.443 ± 0.025</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2343B"/>
                          </a:solidFill>
                        </a:rPr>
                        <a:t>Linear regression</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2343B"/>
                          </a:solidFill>
                        </a:rPr>
                        <a:t>Akil, demographics</a:t>
                      </a:r>
                      <a:endParaRPr lang="en-US" sz="1200" dirty="0"/>
                    </a:p>
                    <a:p>
                      <a:pPr indent="0" marL="0">
                        <a:buNone/>
                      </a:pPr>
                      <a:r>
                        <a:rPr lang="en-US" sz="1000" dirty="0">
                          <a:solidFill>
                            <a:srgbClr val="5D6D73"/>
                          </a:solidFill>
                        </a:rPr>
                        <a:t>1,000 students</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0.162</a:t>
                      </a:r>
                      <a:endParaRPr lang="en-US" sz="1200" dirty="0"/>
                    </a:p>
                    <a:p>
                      <a:pPr algn="ctr" indent="0" marL="0">
                        <a:buNone/>
                      </a:pPr>
                      <a:r>
                        <a:rPr lang="en-US" sz="1000" dirty="0">
                          <a:solidFill>
                            <a:srgbClr val="5D6D73"/>
                          </a:solidFill>
                        </a:rPr>
                        <a:t>CV 0.228 ± 0.037</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3EAE8"/>
                    </a:solidFill>
                  </a:tcPr>
                </a:tc>
                <a:tc>
                  <a:txBody>
                    <a:bodyPr/>
                    <a:lstStyle/>
                    <a:p>
                      <a:pPr algn="ctr" indent="0" marL="0">
                        <a:buNone/>
                      </a:pPr>
                      <a:r>
                        <a:rPr lang="en-US" sz="1500" b="1" dirty="0">
                          <a:solidFill>
                            <a:srgbClr val="1F2A30"/>
                          </a:solidFill>
                        </a:rPr>
                        <a:t>0.068</a:t>
                      </a:r>
                      <a:endParaRPr lang="en-US" sz="1200" dirty="0"/>
                    </a:p>
                    <a:p>
                      <a:pPr algn="ctr" indent="0" marL="0">
                        <a:buNone/>
                      </a:pPr>
                      <a:r>
                        <a:rPr lang="en-US" sz="1000" dirty="0">
                          <a:solidFill>
                            <a:srgbClr val="5D6D73"/>
                          </a:solidFill>
                        </a:rPr>
                        <a:t>CV 0.157 ± 0.060</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A30"/>
                          </a:solidFill>
                        </a:rPr>
                        <a:t>0.118</a:t>
                      </a:r>
                      <a:endParaRPr lang="en-US" sz="1200" dirty="0"/>
                    </a:p>
                    <a:p>
                      <a:pPr algn="ctr" indent="0" marL="0">
                        <a:buNone/>
                      </a:pPr>
                      <a:r>
                        <a:rPr lang="en-US" sz="1000" dirty="0">
                          <a:solidFill>
                            <a:srgbClr val="5D6D73"/>
                          </a:solidFill>
                        </a:rPr>
                        <a:t>CV 0.194 ± 0.033</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2343B"/>
                          </a:solidFill>
                        </a:rPr>
                        <a:t>Linear (RF tie)</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2343B"/>
                          </a:solidFill>
                        </a:rPr>
                        <a:t>Mean rank of test R² (4 settings)</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500" b="1" dirty="0">
                          <a:solidFill>
                            <a:srgbClr val="1B7F79"/>
                          </a:solidFill>
                        </a:rPr>
                        <a:t>1.5</a:t>
                      </a:r>
                      <a:endParaRPr lang="en-US" sz="15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500" b="1" dirty="0">
                          <a:solidFill>
                            <a:srgbClr val="E09F3E"/>
                          </a:solidFill>
                        </a:rPr>
                        <a:t>3.0</a:t>
                      </a:r>
                      <a:endParaRPr lang="en-US" sz="15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500" b="1" dirty="0">
                          <a:solidFill>
                            <a:srgbClr val="4F4C9A"/>
                          </a:solidFill>
                        </a:rPr>
                        <a:t>1.5</a:t>
                      </a:r>
                      <a:endParaRPr lang="en-US" sz="15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300" b="1" dirty="0">
                          <a:solidFill>
                            <a:srgbClr val="12343B"/>
                          </a:solidFill>
                        </a:rPr>
                        <a:t>Tie</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EF3F2"/>
                    </a:solidFill>
                  </a:tcPr>
                </a:tc>
              </a:tr>
              <a:tr h="512064">
                <a:tc>
                  <a:txBody>
                    <a:bodyPr/>
                    <a:lstStyle/>
                    <a:p>
                      <a:pPr indent="0" marL="0">
                        <a:buNone/>
                      </a:pPr>
                      <a:r>
                        <a:rPr lang="en-US" sz="1300" b="1" dirty="0">
                          <a:solidFill>
                            <a:srgbClr val="5D6D73"/>
                          </a:solidFill>
                        </a:rPr>
                        <a:t>Extra: Quang Trung + previous grade</a:t>
                      </a:r>
                      <a:endParaRPr lang="en-US" sz="1200" dirty="0"/>
                    </a:p>
                    <a:p>
                      <a:pPr indent="0" marL="0">
                        <a:buNone/>
                      </a:pPr>
                      <a:r>
                        <a:rPr lang="en-US" sz="1000" dirty="0">
                          <a:solidFill>
                            <a:srgbClr val="5D6D73"/>
                          </a:solidFill>
                        </a:rPr>
                        <a:t>1,000 students, not in the rank</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F9F9"/>
                    </a:solidFill>
                  </a:tcPr>
                </a:tc>
                <a:tc>
                  <a:txBody>
                    <a:bodyPr/>
                    <a:lstStyle/>
                    <a:p>
                      <a:pPr algn="ctr" indent="0" marL="0">
                        <a:buNone/>
                      </a:pPr>
                      <a:r>
                        <a:rPr lang="en-US" sz="1500" b="1" dirty="0">
                          <a:solidFill>
                            <a:srgbClr val="1F2A30"/>
                          </a:solidFill>
                        </a:rPr>
                        <a:t>0.619</a:t>
                      </a:r>
                      <a:endParaRPr lang="en-US" sz="1200" dirty="0"/>
                    </a:p>
                    <a:p>
                      <a:pPr algn="ctr" indent="0" marL="0">
                        <a:buNone/>
                      </a:pPr>
                      <a:r>
                        <a:rPr lang="en-US" sz="1000" dirty="0">
                          <a:solidFill>
                            <a:srgbClr val="5D6D73"/>
                          </a:solidFill>
                        </a:rPr>
                        <a:t>CV 0.659 ± 0.047</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3EAE8"/>
                    </a:solidFill>
                  </a:tcPr>
                </a:tc>
                <a:tc>
                  <a:txBody>
                    <a:bodyPr/>
                    <a:lstStyle/>
                    <a:p>
                      <a:pPr algn="ctr" indent="0" marL="0">
                        <a:buNone/>
                      </a:pPr>
                      <a:r>
                        <a:rPr lang="en-US" sz="1500" b="1" dirty="0">
                          <a:solidFill>
                            <a:srgbClr val="1F2A30"/>
                          </a:solidFill>
                        </a:rPr>
                        <a:t>0.492</a:t>
                      </a:r>
                      <a:endParaRPr lang="en-US" sz="1200" dirty="0"/>
                    </a:p>
                    <a:p>
                      <a:pPr algn="ctr" indent="0" marL="0">
                        <a:buNone/>
                      </a:pPr>
                      <a:r>
                        <a:rPr lang="en-US" sz="1000" dirty="0">
                          <a:solidFill>
                            <a:srgbClr val="5D6D73"/>
                          </a:solidFill>
                        </a:rPr>
                        <a:t>CV 0.446 ± 0.065</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F9F9"/>
                    </a:solidFill>
                  </a:tcPr>
                </a:tc>
                <a:tc>
                  <a:txBody>
                    <a:bodyPr/>
                    <a:lstStyle/>
                    <a:p>
                      <a:pPr algn="ctr" indent="0" marL="0">
                        <a:buNone/>
                      </a:pPr>
                      <a:r>
                        <a:rPr lang="en-US" sz="1500" b="1" dirty="0">
                          <a:solidFill>
                            <a:srgbClr val="1F2A30"/>
                          </a:solidFill>
                        </a:rPr>
                        <a:t>0.585</a:t>
                      </a:r>
                      <a:endParaRPr lang="en-US" sz="1200" dirty="0"/>
                    </a:p>
                    <a:p>
                      <a:pPr algn="ctr" indent="0" marL="0">
                        <a:buNone/>
                      </a:pPr>
                      <a:r>
                        <a:rPr lang="en-US" sz="1000" dirty="0">
                          <a:solidFill>
                            <a:srgbClr val="5D6D73"/>
                          </a:solidFill>
                        </a:rPr>
                        <a:t>CV 0.594 ± 0.055</a:t>
                      </a:r>
                      <a:endParaRPr lang="en-US" sz="12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F9F9"/>
                    </a:solidFill>
                  </a:tcPr>
                </a:tc>
                <a:tc>
                  <a:txBody>
                    <a:bodyPr/>
                    <a:lstStyle/>
                    <a:p>
                      <a:pPr algn="ctr" indent="0" marL="0">
                        <a:buNone/>
                      </a:pPr>
                      <a:r>
                        <a:rPr lang="en-US" sz="1300" b="1" dirty="0">
                          <a:solidFill>
                            <a:srgbClr val="5D6D73"/>
                          </a:solidFill>
                        </a:rPr>
                        <a:t>Linear regression</a:t>
                      </a:r>
                      <a:endParaRPr lang="en-US" sz="1300" dirty="0"/>
                    </a:p>
                  </a:txBody>
                  <a:tcPr marL="109728" marR="109728" marT="27432" marB="27432"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F9F9"/>
                    </a:solidFill>
                  </a:tcPr>
                </a:tc>
              </a:tr>
            </a:tbl>
          </a:graphicData>
        </a:graphic>
      </p:graphicFrame>
      <p:sp>
        <p:nvSpPr>
          <p:cNvPr id="6" name="Text 3"/>
          <p:cNvSpPr txBox="1"/>
          <p:nvPr/>
        </p:nvSpPr>
        <p:spPr>
          <a:xfrm>
            <a:off x="548640" y="4910328"/>
            <a:ext cx="11094415" cy="274320"/>
          </a:xfrm>
          <a:prstGeom prst="rect">
            <a:avLst/>
          </a:prstGeom>
          <a:noFill/>
          <a:ln/>
        </p:spPr>
        <p:txBody>
          <a:bodyPr wrap="square" lIns="0" tIns="0" rIns="0" bIns="0" rtlCol="0" anchor="ctr"/>
          <a:lstStyle/>
          <a:p>
            <a:pPr indent="0" marL="0">
              <a:buNone/>
            </a:pPr>
            <a:r>
              <a:rPr lang="en-US" sz="1100" i="1" dirty="0">
                <a:solidFill>
                  <a:schemeClr val="accent6"/>
                </a:solidFill>
              </a:rPr>
              <a:t>Cells: test R² (bold) and 5-fold CV R² mean ± SD. Shaded cell = best test R² in that row.</a:t>
            </a:r>
            <a:endParaRPr lang="en-US" sz="1100" dirty="0"/>
          </a:p>
        </p:txBody>
      </p:sp>
      <p:sp>
        <p:nvSpPr>
          <p:cNvPr id="7" name="Text 4"/>
          <p:cNvSpPr txBox="1"/>
          <p:nvPr/>
        </p:nvSpPr>
        <p:spPr>
          <a:xfrm>
            <a:off x="548640" y="5166360"/>
            <a:ext cx="3502152" cy="566928"/>
          </a:xfrm>
          <a:prstGeom prst="rect">
            <a:avLst/>
          </a:prstGeom>
          <a:noFill/>
          <a:ln/>
        </p:spPr>
        <p:txBody>
          <a:bodyPr wrap="square" lIns="0" tIns="0" rIns="0" bIns="0" rtlCol="0" anchor="b"/>
          <a:lstStyle/>
          <a:p>
            <a:pPr indent="0" marL="0">
              <a:buNone/>
            </a:pPr>
            <a:r>
              <a:rPr lang="en-US" sz="3200" b="1" dirty="0">
                <a:solidFill>
                  <a:srgbClr val="4F4C9A"/>
                </a:solidFill>
                <a:latin typeface="Cambria" pitchFamily="34" charset="0"/>
                <a:ea typeface="Cambria" pitchFamily="34" charset="-122"/>
                <a:cs typeface="Cambria" pitchFamily="34" charset="-120"/>
              </a:rPr>
              <a:t>0.24 to 0.83</a:t>
            </a:r>
            <a:endParaRPr lang="en-US" sz="3200" dirty="0"/>
          </a:p>
        </p:txBody>
      </p:sp>
      <p:sp>
        <p:nvSpPr>
          <p:cNvPr id="8" name="Text 5"/>
          <p:cNvSpPr txBox="1"/>
          <p:nvPr/>
        </p:nvSpPr>
        <p:spPr>
          <a:xfrm>
            <a:off x="548640" y="5769864"/>
            <a:ext cx="3502152" cy="585216"/>
          </a:xfrm>
          <a:prstGeom prst="rect">
            <a:avLst/>
          </a:prstGeom>
          <a:noFill/>
          <a:ln/>
        </p:spPr>
        <p:txBody>
          <a:bodyPr wrap="square" lIns="0" tIns="0" rIns="0" bIns="0" rtlCol="0" anchor="t"/>
          <a:lstStyle/>
          <a:p>
            <a:pPr indent="0" marL="0">
              <a:buNone/>
            </a:pPr>
            <a:r>
              <a:rPr lang="en-US" sz="1400" dirty="0">
                <a:solidFill>
                  <a:schemeClr val="tx1"/>
                </a:solidFill>
              </a:rPr>
              <a:t>test R² of random forest without and with G1, G2 (Ngoc An)</a:t>
            </a:r>
            <a:endParaRPr lang="en-US" sz="1400" dirty="0"/>
          </a:p>
        </p:txBody>
      </p:sp>
      <p:sp>
        <p:nvSpPr>
          <p:cNvPr id="9" name="Text 6"/>
          <p:cNvSpPr txBox="1"/>
          <p:nvPr/>
        </p:nvSpPr>
        <p:spPr>
          <a:xfrm>
            <a:off x="4343400" y="5166360"/>
            <a:ext cx="3502152" cy="566928"/>
          </a:xfrm>
          <a:prstGeom prst="rect">
            <a:avLst/>
          </a:prstGeom>
          <a:noFill/>
          <a:ln/>
        </p:spPr>
        <p:txBody>
          <a:bodyPr wrap="square" lIns="0" tIns="0" rIns="0" bIns="0" rtlCol="0" anchor="b"/>
          <a:lstStyle/>
          <a:p>
            <a:pPr indent="0" marL="0">
              <a:buNone/>
            </a:pPr>
            <a:r>
              <a:rPr lang="en-US" sz="3200" b="1" dirty="0">
                <a:solidFill>
                  <a:srgbClr val="1B7F79"/>
                </a:solidFill>
                <a:latin typeface="Cambria" pitchFamily="34" charset="0"/>
                <a:ea typeface="Cambria" pitchFamily="34" charset="-122"/>
                <a:cs typeface="Cambria" pitchFamily="34" charset="-120"/>
              </a:rPr>
              <a:t>0.39 to 0.62</a:t>
            </a:r>
            <a:endParaRPr lang="en-US" sz="3200" dirty="0"/>
          </a:p>
        </p:txBody>
      </p:sp>
      <p:sp>
        <p:nvSpPr>
          <p:cNvPr id="10" name="Text 7"/>
          <p:cNvSpPr txBox="1"/>
          <p:nvPr/>
        </p:nvSpPr>
        <p:spPr>
          <a:xfrm>
            <a:off x="4343400" y="5769864"/>
            <a:ext cx="3502152" cy="585216"/>
          </a:xfrm>
          <a:prstGeom prst="rect">
            <a:avLst/>
          </a:prstGeom>
          <a:noFill/>
          <a:ln/>
        </p:spPr>
        <p:txBody>
          <a:bodyPr wrap="square" lIns="0" tIns="0" rIns="0" bIns="0" rtlCol="0" anchor="t"/>
          <a:lstStyle/>
          <a:p>
            <a:pPr indent="0" marL="0">
              <a:buNone/>
            </a:pPr>
            <a:r>
              <a:rPr lang="en-US" sz="1400" dirty="0">
                <a:solidFill>
                  <a:schemeClr val="tx1"/>
                </a:solidFill>
              </a:rPr>
              <a:t>test R² of linear regression without and with previous grade (Quang Trung)</a:t>
            </a:r>
            <a:endParaRPr lang="en-US" sz="1400" dirty="0"/>
          </a:p>
        </p:txBody>
      </p:sp>
      <p:sp>
        <p:nvSpPr>
          <p:cNvPr id="11" name="Text 8"/>
          <p:cNvSpPr txBox="1"/>
          <p:nvPr/>
        </p:nvSpPr>
        <p:spPr>
          <a:xfrm>
            <a:off x="8138160" y="5166360"/>
            <a:ext cx="3502152" cy="566928"/>
          </a:xfrm>
          <a:prstGeom prst="rect">
            <a:avLst/>
          </a:prstGeom>
          <a:noFill/>
          <a:ln/>
        </p:spPr>
        <p:txBody>
          <a:bodyPr wrap="square" lIns="0" tIns="0" rIns="0" bIns="0" rtlCol="0" anchor="b"/>
          <a:lstStyle/>
          <a:p>
            <a:pPr indent="0" marL="0">
              <a:buNone/>
            </a:pPr>
            <a:r>
              <a:rPr lang="en-US" sz="3200" b="1" dirty="0">
                <a:solidFill>
                  <a:srgbClr val="E09F3E"/>
                </a:solidFill>
                <a:latin typeface="Cambria" pitchFamily="34" charset="0"/>
                <a:ea typeface="Cambria" pitchFamily="34" charset="-122"/>
                <a:cs typeface="Cambria" pitchFamily="34" charset="-120"/>
              </a:rPr>
              <a:t>4 of 4</a:t>
            </a:r>
            <a:endParaRPr lang="en-US" sz="3200" dirty="0"/>
          </a:p>
        </p:txBody>
      </p:sp>
      <p:sp>
        <p:nvSpPr>
          <p:cNvPr id="12" name="Text 9"/>
          <p:cNvSpPr txBox="1"/>
          <p:nvPr/>
        </p:nvSpPr>
        <p:spPr>
          <a:xfrm>
            <a:off x="8138160" y="5769864"/>
            <a:ext cx="3502152" cy="585216"/>
          </a:xfrm>
          <a:prstGeom prst="rect">
            <a:avLst/>
          </a:prstGeom>
          <a:noFill/>
          <a:ln/>
        </p:spPr>
        <p:txBody>
          <a:bodyPr wrap="square" lIns="0" tIns="0" rIns="0" bIns="0" rtlCol="0" anchor="t"/>
          <a:lstStyle/>
          <a:p>
            <a:pPr indent="0" marL="0">
              <a:buNone/>
            </a:pPr>
            <a:r>
              <a:rPr lang="en-US" sz="1400" dirty="0">
                <a:solidFill>
                  <a:schemeClr val="tx1"/>
                </a:solidFill>
              </a:rPr>
              <a:t>settings where the decision tree ranks last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chemeClr val="bg2"/>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6"/>
                </a:solidFill>
              </a:rPr>
              <a:t>SPEAKER  </a:t>
            </a:r>
            <a:pPr indent="0" marL="0">
              <a:buNone/>
            </a:pPr>
            <a:r>
              <a:rPr lang="en-US" sz="1000" b="1" spc="100" kern="0" dirty="0">
                <a:solidFill>
                  <a:schemeClr val="accent1"/>
                </a:solidFill>
              </a:rPr>
              <a:t>AKIL VENKATESHKUMAR</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rPr>
              <a:t>Hypotheses: two not supported, one partly</a:t>
            </a:r>
            <a:endParaRPr lang="en-US" sz="3200" dirty="0"/>
          </a:p>
        </p:txBody>
      </p:sp>
      <p:sp>
        <p:nvSpPr>
          <p:cNvPr id="5" name="Hypothesis result"/>
          <p:cNvSpPr/>
          <p:nvPr/>
        </p:nvSpPr>
        <p:spPr>
          <a:xfrm>
            <a:off x="548640" y="1508760"/>
            <a:ext cx="11094415" cy="1051560"/>
          </a:xfrm>
          <a:prstGeom prst="roundRect">
            <a:avLst>
              <a:gd name="adj" fmla="val 6957"/>
            </a:avLst>
          </a:prstGeom>
          <a:solidFill>
            <a:schemeClr val="bg2"/>
          </a:solidFill>
          <a:ln/>
        </p:spPr>
      </p:sp>
      <p:sp>
        <p:nvSpPr>
          <p:cNvPr id="6" name="Shape 4"/>
          <p:cNvSpPr/>
          <p:nvPr/>
        </p:nvSpPr>
        <p:spPr>
          <a:xfrm>
            <a:off x="777240" y="1764792"/>
            <a:ext cx="548640" cy="548640"/>
          </a:xfrm>
          <a:prstGeom prst="ellipse">
            <a:avLst/>
          </a:prstGeom>
          <a:solidFill>
            <a:schemeClr val="tx2"/>
          </a:solidFill>
          <a:ln/>
        </p:spPr>
      </p:sp>
      <p:sp>
        <p:nvSpPr>
          <p:cNvPr id="7" name="Text 5"/>
          <p:cNvSpPr txBox="1"/>
          <p:nvPr/>
        </p:nvSpPr>
        <p:spPr>
          <a:xfrm>
            <a:off x="777240" y="1764792"/>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H1</a:t>
            </a:r>
            <a:endParaRPr lang="en-US" sz="1400" dirty="0"/>
          </a:p>
        </p:txBody>
      </p:sp>
      <p:sp>
        <p:nvSpPr>
          <p:cNvPr id="8" name="Text 6"/>
          <p:cNvSpPr txBox="1"/>
          <p:nvPr/>
        </p:nvSpPr>
        <p:spPr>
          <a:xfrm>
            <a:off x="1554480" y="1618488"/>
            <a:ext cx="4023360" cy="832104"/>
          </a:xfrm>
          <a:prstGeom prst="rect">
            <a:avLst/>
          </a:prstGeom>
          <a:noFill/>
          <a:ln/>
        </p:spPr>
        <p:txBody>
          <a:bodyPr wrap="square" lIns="0" tIns="0" rIns="0" bIns="0" rtlCol="0" anchor="ctr"/>
          <a:lstStyle/>
          <a:p>
            <a:pPr indent="0" marL="0">
              <a:buNone/>
            </a:pPr>
            <a:r>
              <a:rPr lang="en-US" sz="1400" b="1" dirty="0">
                <a:solidFill>
                  <a:schemeClr val="tx2"/>
                </a:solidFill>
              </a:rPr>
              <a:t>Random forest has the highest test R² on most datasets.</a:t>
            </a:r>
            <a:endParaRPr lang="en-US" sz="1400" dirty="0"/>
          </a:p>
        </p:txBody>
      </p:sp>
      <p:sp>
        <p:nvSpPr>
          <p:cNvPr id="9" name="Shape 7"/>
          <p:cNvSpPr/>
          <p:nvPr/>
        </p:nvSpPr>
        <p:spPr>
          <a:xfrm>
            <a:off x="5760720" y="1837944"/>
            <a:ext cx="1600200" cy="384048"/>
          </a:xfrm>
          <a:prstGeom prst="roundRect">
            <a:avLst>
              <a:gd name="adj" fmla="val 50000"/>
            </a:avLst>
          </a:prstGeom>
          <a:solidFill>
            <a:srgbClr val="D1495B"/>
          </a:solidFill>
          <a:ln/>
        </p:spPr>
      </p:sp>
      <p:sp>
        <p:nvSpPr>
          <p:cNvPr id="10" name="Text 8"/>
          <p:cNvSpPr txBox="1"/>
          <p:nvPr/>
        </p:nvSpPr>
        <p:spPr>
          <a:xfrm>
            <a:off x="5760720" y="1837944"/>
            <a:ext cx="1600200" cy="384048"/>
          </a:xfrm>
          <a:prstGeom prst="rect">
            <a:avLst/>
          </a:prstGeom>
          <a:noFill/>
          <a:ln/>
        </p:spPr>
        <p:txBody>
          <a:bodyPr wrap="square" lIns="0" tIns="0" rIns="0" bIns="0" rtlCol="0" anchor="ctr"/>
          <a:lstStyle/>
          <a:p>
            <a:pPr algn="ctr" indent="0" marL="0">
              <a:buNone/>
            </a:pPr>
            <a:r>
              <a:rPr lang="en-US" sz="1200" b="1" dirty="0">
                <a:solidFill>
                  <a:schemeClr val="bg1"/>
                </a:solidFill>
              </a:rPr>
              <a:t>Not supported</a:t>
            </a:r>
            <a:endParaRPr lang="en-US" sz="1200" dirty="0"/>
          </a:p>
        </p:txBody>
      </p:sp>
      <p:sp>
        <p:nvSpPr>
          <p:cNvPr id="11" name="Text 9"/>
          <p:cNvSpPr txBox="1"/>
          <p:nvPr/>
        </p:nvSpPr>
        <p:spPr>
          <a:xfrm>
            <a:off x="7589520" y="1618488"/>
            <a:ext cx="3886200" cy="832104"/>
          </a:xfrm>
          <a:prstGeom prst="rect">
            <a:avLst/>
          </a:prstGeom>
          <a:noFill/>
          <a:ln/>
        </p:spPr>
        <p:txBody>
          <a:bodyPr wrap="square" lIns="0" tIns="0" rIns="0" bIns="0" rtlCol="0" anchor="ctr"/>
          <a:lstStyle/>
          <a:p>
            <a:pPr indent="0" marL="0">
              <a:buNone/>
            </a:pPr>
            <a:r>
              <a:rPr lang="en-US" sz="1300" dirty="0">
                <a:solidFill>
                  <a:schemeClr val="tx1"/>
                </a:solidFill>
              </a:rPr>
              <a:t>Best in 2 of 4 settings, both on Ngoc An's data. Linear regression is best on both 1,000-student datasets.</a:t>
            </a:r>
            <a:endParaRPr lang="en-US" sz="1300" dirty="0"/>
          </a:p>
        </p:txBody>
      </p:sp>
      <p:sp>
        <p:nvSpPr>
          <p:cNvPr id="12" name="Hypothesis result"/>
          <p:cNvSpPr/>
          <p:nvPr/>
        </p:nvSpPr>
        <p:spPr>
          <a:xfrm>
            <a:off x="548640" y="2715768"/>
            <a:ext cx="11094415" cy="1051560"/>
          </a:xfrm>
          <a:prstGeom prst="roundRect">
            <a:avLst>
              <a:gd name="adj" fmla="val 6957"/>
            </a:avLst>
          </a:prstGeom>
          <a:solidFill>
            <a:schemeClr val="bg2"/>
          </a:solidFill>
          <a:ln/>
        </p:spPr>
      </p:sp>
      <p:sp>
        <p:nvSpPr>
          <p:cNvPr id="13" name="Shape 11"/>
          <p:cNvSpPr/>
          <p:nvPr/>
        </p:nvSpPr>
        <p:spPr>
          <a:xfrm>
            <a:off x="777240" y="2971800"/>
            <a:ext cx="548640" cy="548640"/>
          </a:xfrm>
          <a:prstGeom prst="ellipse">
            <a:avLst/>
          </a:prstGeom>
          <a:solidFill>
            <a:schemeClr val="tx2"/>
          </a:solidFill>
          <a:ln/>
        </p:spPr>
      </p:sp>
      <p:sp>
        <p:nvSpPr>
          <p:cNvPr id="14" name="Text 12"/>
          <p:cNvSpPr txBox="1"/>
          <p:nvPr/>
        </p:nvSpPr>
        <p:spPr>
          <a:xfrm>
            <a:off x="777240" y="297180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H2</a:t>
            </a:r>
            <a:endParaRPr lang="en-US" sz="1400" dirty="0"/>
          </a:p>
        </p:txBody>
      </p:sp>
      <p:sp>
        <p:nvSpPr>
          <p:cNvPr id="15" name="Text 13"/>
          <p:cNvSpPr txBox="1"/>
          <p:nvPr/>
        </p:nvSpPr>
        <p:spPr>
          <a:xfrm>
            <a:off x="1554480" y="2825496"/>
            <a:ext cx="4023360" cy="832104"/>
          </a:xfrm>
          <a:prstGeom prst="rect">
            <a:avLst/>
          </a:prstGeom>
          <a:noFill/>
          <a:ln/>
        </p:spPr>
        <p:txBody>
          <a:bodyPr wrap="square" lIns="0" tIns="0" rIns="0" bIns="0" rtlCol="0" anchor="ctr"/>
          <a:lstStyle/>
          <a:p>
            <a:pPr indent="0" marL="0">
              <a:buNone/>
            </a:pPr>
            <a:r>
              <a:rPr lang="en-US" sz="1400" b="1" dirty="0">
                <a:solidFill>
                  <a:schemeClr val="tx2"/>
                </a:solidFill>
              </a:rPr>
              <a:t>Linear regression is within 1 SD of random forest on Ngoc An's data with G1, G2.</a:t>
            </a:r>
            <a:endParaRPr lang="en-US" sz="1400" dirty="0"/>
          </a:p>
        </p:txBody>
      </p:sp>
      <p:sp>
        <p:nvSpPr>
          <p:cNvPr id="16" name="Shape 14"/>
          <p:cNvSpPr/>
          <p:nvPr/>
        </p:nvSpPr>
        <p:spPr>
          <a:xfrm>
            <a:off x="5760720" y="3044952"/>
            <a:ext cx="1600200" cy="384048"/>
          </a:xfrm>
          <a:prstGeom prst="roundRect">
            <a:avLst>
              <a:gd name="adj" fmla="val 50000"/>
            </a:avLst>
          </a:prstGeom>
          <a:solidFill>
            <a:srgbClr val="D1495B"/>
          </a:solidFill>
          <a:ln/>
        </p:spPr>
      </p:sp>
      <p:sp>
        <p:nvSpPr>
          <p:cNvPr id="17" name="Text 15"/>
          <p:cNvSpPr txBox="1"/>
          <p:nvPr/>
        </p:nvSpPr>
        <p:spPr>
          <a:xfrm>
            <a:off x="5760720" y="3044952"/>
            <a:ext cx="1600200" cy="384048"/>
          </a:xfrm>
          <a:prstGeom prst="rect">
            <a:avLst/>
          </a:prstGeom>
          <a:noFill/>
          <a:ln/>
        </p:spPr>
        <p:txBody>
          <a:bodyPr wrap="square" lIns="0" tIns="0" rIns="0" bIns="0" rtlCol="0" anchor="ctr"/>
          <a:lstStyle/>
          <a:p>
            <a:pPr algn="ctr" indent="0" marL="0">
              <a:buNone/>
            </a:pPr>
            <a:r>
              <a:rPr lang="en-US" sz="1200" b="1" dirty="0">
                <a:solidFill>
                  <a:schemeClr val="bg1"/>
                </a:solidFill>
              </a:rPr>
              <a:t>Not supported</a:t>
            </a:r>
            <a:endParaRPr lang="en-US" sz="1200" dirty="0"/>
          </a:p>
        </p:txBody>
      </p:sp>
      <p:sp>
        <p:nvSpPr>
          <p:cNvPr id="18" name="Text 16"/>
          <p:cNvSpPr txBox="1"/>
          <p:nvPr/>
        </p:nvSpPr>
        <p:spPr>
          <a:xfrm>
            <a:off x="7589520" y="2825496"/>
            <a:ext cx="3886200" cy="832104"/>
          </a:xfrm>
          <a:prstGeom prst="rect">
            <a:avLst/>
          </a:prstGeom>
          <a:noFill/>
          <a:ln/>
        </p:spPr>
        <p:txBody>
          <a:bodyPr wrap="square" lIns="0" tIns="0" rIns="0" bIns="0" rtlCol="0" anchor="ctr"/>
          <a:lstStyle/>
          <a:p>
            <a:pPr indent="0" marL="0">
              <a:buNone/>
            </a:pPr>
            <a:r>
              <a:rPr lang="en-US" sz="1300" dirty="0">
                <a:solidFill>
                  <a:schemeClr val="tx1"/>
                </a:solidFill>
              </a:rPr>
              <a:t>CV R² 0.804 vs 0.883: a gap of 0.079, more than twice the SD (0.036).</a:t>
            </a:r>
            <a:endParaRPr lang="en-US" sz="1300" dirty="0"/>
          </a:p>
        </p:txBody>
      </p:sp>
      <p:sp>
        <p:nvSpPr>
          <p:cNvPr id="19" name="Hypothesis result"/>
          <p:cNvSpPr/>
          <p:nvPr/>
        </p:nvSpPr>
        <p:spPr>
          <a:xfrm>
            <a:off x="548640" y="3922776"/>
            <a:ext cx="11094415" cy="1051560"/>
          </a:xfrm>
          <a:prstGeom prst="roundRect">
            <a:avLst>
              <a:gd name="adj" fmla="val 6957"/>
            </a:avLst>
          </a:prstGeom>
          <a:solidFill>
            <a:schemeClr val="bg2"/>
          </a:solidFill>
          <a:ln/>
        </p:spPr>
      </p:sp>
      <p:sp>
        <p:nvSpPr>
          <p:cNvPr id="20" name="Shape 18"/>
          <p:cNvSpPr/>
          <p:nvPr/>
        </p:nvSpPr>
        <p:spPr>
          <a:xfrm>
            <a:off x="777240" y="4178808"/>
            <a:ext cx="548640" cy="548640"/>
          </a:xfrm>
          <a:prstGeom prst="ellipse">
            <a:avLst/>
          </a:prstGeom>
          <a:solidFill>
            <a:schemeClr val="tx2"/>
          </a:solidFill>
          <a:ln/>
        </p:spPr>
      </p:sp>
      <p:sp>
        <p:nvSpPr>
          <p:cNvPr id="21" name="Text 19"/>
          <p:cNvSpPr txBox="1"/>
          <p:nvPr/>
        </p:nvSpPr>
        <p:spPr>
          <a:xfrm>
            <a:off x="777240" y="4178808"/>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H3</a:t>
            </a:r>
            <a:endParaRPr lang="en-US" sz="1400" dirty="0"/>
          </a:p>
        </p:txBody>
      </p:sp>
      <p:sp>
        <p:nvSpPr>
          <p:cNvPr id="22" name="Text 20"/>
          <p:cNvSpPr txBox="1"/>
          <p:nvPr/>
        </p:nvSpPr>
        <p:spPr>
          <a:xfrm>
            <a:off x="1554480" y="4032504"/>
            <a:ext cx="4023360" cy="832104"/>
          </a:xfrm>
          <a:prstGeom prst="rect">
            <a:avLst/>
          </a:prstGeom>
          <a:noFill/>
          <a:ln/>
        </p:spPr>
        <p:txBody>
          <a:bodyPr wrap="square" lIns="0" tIns="0" rIns="0" bIns="0" rtlCol="0" anchor="ctr"/>
          <a:lstStyle/>
          <a:p>
            <a:pPr indent="0" marL="0">
              <a:buNone/>
            </a:pPr>
            <a:r>
              <a:rPr lang="en-US" sz="1400" b="1" dirty="0">
                <a:solidFill>
                  <a:schemeClr val="tx2"/>
                </a:solidFill>
              </a:rPr>
              <a:t>All three models score lowest on the demographic dataset.</a:t>
            </a:r>
            <a:endParaRPr lang="en-US" sz="1400" dirty="0"/>
          </a:p>
        </p:txBody>
      </p:sp>
      <p:sp>
        <p:nvSpPr>
          <p:cNvPr id="23" name="Shape 21"/>
          <p:cNvSpPr/>
          <p:nvPr/>
        </p:nvSpPr>
        <p:spPr>
          <a:xfrm>
            <a:off x="5760720" y="4251960"/>
            <a:ext cx="1600200" cy="384048"/>
          </a:xfrm>
          <a:prstGeom prst="roundRect">
            <a:avLst>
              <a:gd name="adj" fmla="val 50000"/>
            </a:avLst>
          </a:prstGeom>
          <a:solidFill>
            <a:srgbClr val="E09F3E"/>
          </a:solidFill>
          <a:ln/>
        </p:spPr>
      </p:sp>
      <p:sp>
        <p:nvSpPr>
          <p:cNvPr id="24" name="Text 22"/>
          <p:cNvSpPr txBox="1"/>
          <p:nvPr/>
        </p:nvSpPr>
        <p:spPr>
          <a:xfrm>
            <a:off x="5760720" y="4251960"/>
            <a:ext cx="1600200" cy="384048"/>
          </a:xfrm>
          <a:prstGeom prst="rect">
            <a:avLst/>
          </a:prstGeom>
          <a:noFill/>
          <a:ln/>
        </p:spPr>
        <p:txBody>
          <a:bodyPr wrap="square" lIns="0" tIns="0" rIns="0" bIns="0" rtlCol="0" anchor="ctr"/>
          <a:lstStyle/>
          <a:p>
            <a:pPr algn="ctr" indent="0" marL="0">
              <a:buNone/>
            </a:pPr>
            <a:r>
              <a:rPr lang="en-US" sz="1200" b="1" dirty="0">
                <a:solidFill>
                  <a:schemeClr val="bg1"/>
                </a:solidFill>
              </a:rPr>
              <a:t>Partly supported</a:t>
            </a:r>
            <a:endParaRPr lang="en-US" sz="1200" dirty="0"/>
          </a:p>
        </p:txBody>
      </p:sp>
      <p:sp>
        <p:nvSpPr>
          <p:cNvPr id="25" name="Text 23"/>
          <p:cNvSpPr txBox="1"/>
          <p:nvPr/>
        </p:nvSpPr>
        <p:spPr>
          <a:xfrm>
            <a:off x="7589520" y="4032504"/>
            <a:ext cx="3886200" cy="832104"/>
          </a:xfrm>
          <a:prstGeom prst="rect">
            <a:avLst/>
          </a:prstGeom>
          <a:noFill/>
          <a:ln/>
        </p:spPr>
        <p:txBody>
          <a:bodyPr wrap="square" lIns="0" tIns="0" rIns="0" bIns="0" rtlCol="0" anchor="ctr"/>
          <a:lstStyle/>
          <a:p>
            <a:pPr indent="0" marL="0">
              <a:buNone/>
            </a:pPr>
            <a:r>
              <a:rPr lang="en-US" sz="1300" dirty="0">
                <a:solidFill>
                  <a:schemeClr val="tx1"/>
                </a:solidFill>
              </a:rPr>
              <a:t>Lowest for random forest (0.118). Ngoc An's setting without G1, G2 is lower for linear regression (0.141) and the tree (0.058).</a:t>
            </a:r>
            <a:endParaRPr lang="en-US" sz="1300" dirty="0"/>
          </a:p>
        </p:txBody>
      </p:sp>
      <p:sp>
        <p:nvSpPr>
          <p:cNvPr id="26" name="Text 24"/>
          <p:cNvSpPr txBox="1"/>
          <p:nvPr/>
        </p:nvSpPr>
        <p:spPr>
          <a:xfrm>
            <a:off x="548640" y="5212080"/>
            <a:ext cx="11094415" cy="86868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RQ1: </a:t>
            </a:r>
            <a:pPr indent="0" marL="0">
              <a:spcAft>
                <a:spcPts val="400"/>
              </a:spcAft>
              <a:buNone/>
            </a:pPr>
            <a:r>
              <a:rPr lang="en-US" sz="1500" dirty="0">
                <a:solidFill>
                  <a:schemeClr val="tx1"/>
                </a:solidFill>
              </a:rPr>
              <a:t>random forest on Ngoc An's data; linear regression on the other two.</a:t>
            </a:r>
            <a:endParaRPr lang="en-US" sz="1500" dirty="0"/>
          </a:p>
          <a:p>
            <a:pPr indent="0" marL="0">
              <a:spcAft>
                <a:spcPts val="400"/>
              </a:spcAft>
              <a:buNone/>
            </a:pPr>
            <a:r>
              <a:rPr lang="en-US" sz="1500" b="1" dirty="0">
                <a:solidFill>
                  <a:schemeClr val="accent1"/>
                </a:solidFill>
              </a:rPr>
              <a:t>RQ2: </a:t>
            </a:r>
            <a:pPr indent="0" marL="0">
              <a:spcAft>
                <a:spcPts val="400"/>
              </a:spcAft>
              <a:buNone/>
            </a:pPr>
            <a:r>
              <a:rPr lang="en-US" sz="1500" dirty="0">
                <a:solidFill>
                  <a:schemeClr val="tx1"/>
                </a:solidFill>
              </a:rPr>
              <a:t>yes. Prior grades and the type and number of predictors change the ranking; sample size alone does not explain it.</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peaker chip"/>
          <p:cNvSpPr/>
          <p:nvPr/>
        </p:nvSpPr>
        <p:spPr>
          <a:xfrm>
            <a:off x="548640" y="256032"/>
            <a:ext cx="3017520" cy="292608"/>
          </a:xfrm>
          <a:prstGeom prst="roundRect">
            <a:avLst>
              <a:gd name="adj" fmla="val 50000"/>
            </a:avLst>
          </a:prstGeom>
          <a:solidFill>
            <a:srgbClr val="1C4650"/>
          </a:solidFill>
          <a:ln/>
        </p:spPr>
      </p:sp>
      <p:sp>
        <p:nvSpPr>
          <p:cNvPr id="3" name="Text 1"/>
          <p:cNvSpPr txBox="1"/>
          <p:nvPr/>
        </p:nvSpPr>
        <p:spPr>
          <a:xfrm>
            <a:off x="685800" y="256032"/>
            <a:ext cx="2834640" cy="292608"/>
          </a:xfrm>
          <a:prstGeom prst="rect">
            <a:avLst/>
          </a:prstGeom>
          <a:noFill/>
          <a:ln/>
        </p:spPr>
        <p:txBody>
          <a:bodyPr wrap="square" lIns="0" tIns="0" rIns="0" bIns="0" rtlCol="0" anchor="ctr"/>
          <a:lstStyle/>
          <a:p>
            <a:pPr indent="0" marL="0">
              <a:buNone/>
            </a:pPr>
            <a:r>
              <a:rPr lang="en-US" sz="1000" spc="100" kern="0" dirty="0">
                <a:solidFill>
                  <a:schemeClr val="accent5"/>
                </a:solidFill>
              </a:rPr>
              <a:t>SPEAKER  </a:t>
            </a:r>
            <a:pPr indent="0" marL="0">
              <a:buNone/>
            </a:pPr>
            <a:r>
              <a:rPr lang="en-US" sz="1000" b="1" spc="100" kern="0" dirty="0">
                <a:solidFill>
                  <a:schemeClr val="bg1"/>
                </a:solidFill>
              </a:rPr>
              <a:t>AKIL VENKATESHKUMAR</a:t>
            </a:r>
            <a:endParaRPr lang="en-US" sz="1000" dirty="0"/>
          </a:p>
        </p:txBody>
      </p:sp>
      <p:sp>
        <p:nvSpPr>
          <p:cNvPr id="4" name="Text 0"/>
          <p:cNvSpPr/>
          <p:nvPr>
            <p:ph idx="100"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3200" b="1" dirty="0">
                <a:solidFill>
                  <a:schemeClr val="bg1"/>
                </a:solidFill>
              </a:rPr>
              <a:t>What we recommend</a:t>
            </a:r>
            <a:endParaRPr lang="en-US" sz="3200" dirty="0"/>
          </a:p>
        </p:txBody>
      </p:sp>
      <p:sp>
        <p:nvSpPr>
          <p:cNvPr id="5" name="Recommendation card"/>
          <p:cNvSpPr/>
          <p:nvPr/>
        </p:nvSpPr>
        <p:spPr>
          <a:xfrm>
            <a:off x="548640" y="1508760"/>
            <a:ext cx="3502152" cy="2103120"/>
          </a:xfrm>
          <a:prstGeom prst="roundRect">
            <a:avLst>
              <a:gd name="adj" fmla="val 3478"/>
            </a:avLst>
          </a:prstGeom>
          <a:solidFill>
            <a:srgbClr val="1C4650"/>
          </a:solidFill>
          <a:ln/>
        </p:spPr>
      </p:sp>
      <p:sp>
        <p:nvSpPr>
          <p:cNvPr id="6" name="Shape 4"/>
          <p:cNvSpPr/>
          <p:nvPr/>
        </p:nvSpPr>
        <p:spPr>
          <a:xfrm>
            <a:off x="822960" y="1783080"/>
            <a:ext cx="640080" cy="640080"/>
          </a:xfrm>
          <a:prstGeom prst="ellipse">
            <a:avLst/>
          </a:prstGeom>
          <a:solidFill>
            <a:srgbClr val="1B7F79"/>
          </a:solidFill>
          <a:ln/>
        </p:spPr>
      </p:sp>
      <p:pic>
        <p:nvPicPr>
          <p:cNvPr id="7" name="Image 0" descr="preencoded.png">    </p:cNvPr>
          <p:cNvPicPr>
            <a:picLocks noChangeAspect="1"/>
          </p:cNvPicPr>
          <p:nvPr/>
        </p:nvPicPr>
        <p:blipFill>
          <a:blip r:embed="rId1"/>
          <a:stretch>
            <a:fillRect/>
          </a:stretch>
        </p:blipFill>
        <p:spPr>
          <a:xfrm>
            <a:off x="976579" y="1936699"/>
            <a:ext cx="332842" cy="332842"/>
          </a:xfrm>
          <a:prstGeom prst="rect">
            <a:avLst/>
          </a:prstGeom>
        </p:spPr>
      </p:pic>
      <p:sp>
        <p:nvSpPr>
          <p:cNvPr id="8" name="Text 5"/>
          <p:cNvSpPr txBox="1"/>
          <p:nvPr/>
        </p:nvSpPr>
        <p:spPr>
          <a:xfrm>
            <a:off x="1600200" y="1737360"/>
            <a:ext cx="2267712" cy="777240"/>
          </a:xfrm>
          <a:prstGeom prst="rect">
            <a:avLst/>
          </a:prstGeom>
          <a:noFill/>
          <a:ln/>
        </p:spPr>
        <p:txBody>
          <a:bodyPr wrap="square" lIns="0" tIns="0" rIns="0" bIns="0" rtlCol="0" anchor="ctr"/>
          <a:lstStyle/>
          <a:p>
            <a:pPr indent="0" marL="0">
              <a:buNone/>
            </a:pPr>
            <a:r>
              <a:rPr lang="en-US" sz="1800" b="1" dirty="0">
                <a:solidFill>
                  <a:srgbClr val="FFFFFF"/>
                </a:solidFill>
              </a:rPr>
              <a:t>Linear regression</a:t>
            </a:r>
            <a:endParaRPr lang="en-US" sz="1800" dirty="0"/>
          </a:p>
          <a:p>
            <a:pPr indent="0" marL="0">
              <a:buNone/>
            </a:pPr>
            <a:r>
              <a:rPr lang="en-US" sz="1400" dirty="0">
                <a:solidFill>
                  <a:srgbClr val="A9CFCB"/>
                </a:solidFill>
              </a:rPr>
              <a:t>Start here</a:t>
            </a:r>
            <a:endParaRPr lang="en-US" sz="1800" dirty="0"/>
          </a:p>
        </p:txBody>
      </p:sp>
      <p:sp>
        <p:nvSpPr>
          <p:cNvPr id="9" name="Text 6"/>
          <p:cNvSpPr txBox="1"/>
          <p:nvPr/>
        </p:nvSpPr>
        <p:spPr>
          <a:xfrm>
            <a:off x="822960" y="2697480"/>
            <a:ext cx="2953512" cy="1005840"/>
          </a:xfrm>
          <a:prstGeom prst="rect">
            <a:avLst/>
          </a:prstGeom>
          <a:noFill/>
          <a:ln/>
        </p:spPr>
        <p:txBody>
          <a:bodyPr wrap="square" lIns="0" tIns="0" rIns="0" bIns="0" rtlCol="0" anchor="t"/>
          <a:lstStyle/>
          <a:p>
            <a:pPr indent="0" marL="0">
              <a:buNone/>
            </a:pPr>
            <a:r>
              <a:rPr lang="en-US" sz="1400" dirty="0">
                <a:solidFill>
                  <a:schemeClr val="bg1"/>
                </a:solidFill>
              </a:rPr>
              <a:t>Best on both 1,000-student datasets; coefficients explain each effect.</a:t>
            </a:r>
            <a:endParaRPr lang="en-US" sz="1400" dirty="0"/>
          </a:p>
        </p:txBody>
      </p:sp>
      <p:sp>
        <p:nvSpPr>
          <p:cNvPr id="10" name="Recommendation card"/>
          <p:cNvSpPr/>
          <p:nvPr/>
        </p:nvSpPr>
        <p:spPr>
          <a:xfrm>
            <a:off x="4343400" y="1508760"/>
            <a:ext cx="3502152" cy="2103120"/>
          </a:xfrm>
          <a:prstGeom prst="roundRect">
            <a:avLst>
              <a:gd name="adj" fmla="val 3478"/>
            </a:avLst>
          </a:prstGeom>
          <a:solidFill>
            <a:srgbClr val="1C4650"/>
          </a:solidFill>
          <a:ln/>
        </p:spPr>
      </p:sp>
      <p:sp>
        <p:nvSpPr>
          <p:cNvPr id="11" name="Shape 8"/>
          <p:cNvSpPr/>
          <p:nvPr/>
        </p:nvSpPr>
        <p:spPr>
          <a:xfrm>
            <a:off x="4617720" y="1783080"/>
            <a:ext cx="640080" cy="640080"/>
          </a:xfrm>
          <a:prstGeom prst="ellipse">
            <a:avLst/>
          </a:prstGeom>
          <a:solidFill>
            <a:srgbClr val="4F4C9A"/>
          </a:solidFill>
          <a:ln/>
        </p:spPr>
      </p:sp>
      <p:pic>
        <p:nvPicPr>
          <p:cNvPr id="12" name="Image 1" descr="preencoded.png">    </p:cNvPr>
          <p:cNvPicPr>
            <a:picLocks noChangeAspect="1"/>
          </p:cNvPicPr>
          <p:nvPr/>
        </p:nvPicPr>
        <p:blipFill>
          <a:blip r:embed="rId2"/>
          <a:stretch>
            <a:fillRect/>
          </a:stretch>
        </p:blipFill>
        <p:spPr>
          <a:xfrm>
            <a:off x="4771339" y="1936699"/>
            <a:ext cx="332842" cy="332842"/>
          </a:xfrm>
          <a:prstGeom prst="rect">
            <a:avLst/>
          </a:prstGeom>
        </p:spPr>
      </p:pic>
      <p:sp>
        <p:nvSpPr>
          <p:cNvPr id="13" name="Text 9"/>
          <p:cNvSpPr txBox="1"/>
          <p:nvPr/>
        </p:nvSpPr>
        <p:spPr>
          <a:xfrm>
            <a:off x="5394960" y="1737360"/>
            <a:ext cx="2267712" cy="777240"/>
          </a:xfrm>
          <a:prstGeom prst="rect">
            <a:avLst/>
          </a:prstGeom>
          <a:noFill/>
          <a:ln/>
        </p:spPr>
        <p:txBody>
          <a:bodyPr wrap="square" lIns="0" tIns="0" rIns="0" bIns="0" rtlCol="0" anchor="ctr"/>
          <a:lstStyle/>
          <a:p>
            <a:pPr indent="0" marL="0">
              <a:buNone/>
            </a:pPr>
            <a:r>
              <a:rPr lang="en-US" sz="1800" b="1" dirty="0">
                <a:solidFill>
                  <a:srgbClr val="FFFFFF"/>
                </a:solidFill>
              </a:rPr>
              <a:t>Random forest</a:t>
            </a:r>
            <a:endParaRPr lang="en-US" sz="1800" dirty="0"/>
          </a:p>
          <a:p>
            <a:pPr indent="0" marL="0">
              <a:buNone/>
            </a:pPr>
            <a:r>
              <a:rPr lang="en-US" sz="1400" dirty="0">
                <a:solidFill>
                  <a:srgbClr val="A9CFCB"/>
                </a:solidFill>
              </a:rPr>
              <a:t>Use with many mixed features</a:t>
            </a:r>
            <a:endParaRPr lang="en-US" sz="1800" dirty="0"/>
          </a:p>
        </p:txBody>
      </p:sp>
      <p:sp>
        <p:nvSpPr>
          <p:cNvPr id="14" name="Text 10"/>
          <p:cNvSpPr txBox="1"/>
          <p:nvPr/>
        </p:nvSpPr>
        <p:spPr>
          <a:xfrm>
            <a:off x="4617720" y="2697480"/>
            <a:ext cx="2953512" cy="1005840"/>
          </a:xfrm>
          <a:prstGeom prst="rect">
            <a:avLst/>
          </a:prstGeom>
          <a:noFill/>
          <a:ln/>
        </p:spPr>
        <p:txBody>
          <a:bodyPr wrap="square" lIns="0" tIns="0" rIns="0" bIns="0" rtlCol="0" anchor="t"/>
          <a:lstStyle/>
          <a:p>
            <a:pPr indent="0" marL="0">
              <a:buNone/>
            </a:pPr>
            <a:r>
              <a:rPr lang="en-US" sz="1400" dirty="0">
                <a:solidFill>
                  <a:schemeClr val="bg1"/>
                </a:solidFill>
              </a:rPr>
              <a:t>Best on Ngoc An's 33 variables (test R² 0.829 with G1, G2).</a:t>
            </a:r>
            <a:endParaRPr lang="en-US" sz="1400" dirty="0"/>
          </a:p>
        </p:txBody>
      </p:sp>
      <p:sp>
        <p:nvSpPr>
          <p:cNvPr id="15" name="Recommendation card"/>
          <p:cNvSpPr/>
          <p:nvPr/>
        </p:nvSpPr>
        <p:spPr>
          <a:xfrm>
            <a:off x="8138160" y="1508760"/>
            <a:ext cx="3502152" cy="2103120"/>
          </a:xfrm>
          <a:prstGeom prst="roundRect">
            <a:avLst>
              <a:gd name="adj" fmla="val 3478"/>
            </a:avLst>
          </a:prstGeom>
          <a:solidFill>
            <a:srgbClr val="1C4650"/>
          </a:solidFill>
          <a:ln/>
        </p:spPr>
      </p:sp>
      <p:sp>
        <p:nvSpPr>
          <p:cNvPr id="16" name="Shape 12"/>
          <p:cNvSpPr/>
          <p:nvPr/>
        </p:nvSpPr>
        <p:spPr>
          <a:xfrm>
            <a:off x="8412480" y="1783080"/>
            <a:ext cx="640080" cy="640080"/>
          </a:xfrm>
          <a:prstGeom prst="ellipse">
            <a:avLst/>
          </a:prstGeom>
          <a:solidFill>
            <a:srgbClr val="E09F3E"/>
          </a:solidFill>
          <a:ln/>
        </p:spPr>
      </p:sp>
      <p:pic>
        <p:nvPicPr>
          <p:cNvPr id="17" name="Image 2" descr="preencoded.png">    </p:cNvPr>
          <p:cNvPicPr>
            <a:picLocks noChangeAspect="1"/>
          </p:cNvPicPr>
          <p:nvPr/>
        </p:nvPicPr>
        <p:blipFill>
          <a:blip r:embed="rId3"/>
          <a:stretch>
            <a:fillRect/>
          </a:stretch>
        </p:blipFill>
        <p:spPr>
          <a:xfrm>
            <a:off x="8566099" y="1936699"/>
            <a:ext cx="332842" cy="332842"/>
          </a:xfrm>
          <a:prstGeom prst="rect">
            <a:avLst/>
          </a:prstGeom>
        </p:spPr>
      </p:pic>
      <p:sp>
        <p:nvSpPr>
          <p:cNvPr id="18" name="Text 13"/>
          <p:cNvSpPr txBox="1"/>
          <p:nvPr/>
        </p:nvSpPr>
        <p:spPr>
          <a:xfrm>
            <a:off x="9189720" y="1737360"/>
            <a:ext cx="2267712" cy="777240"/>
          </a:xfrm>
          <a:prstGeom prst="rect">
            <a:avLst/>
          </a:prstGeom>
          <a:noFill/>
          <a:ln/>
        </p:spPr>
        <p:txBody>
          <a:bodyPr wrap="square" lIns="0" tIns="0" rIns="0" bIns="0" rtlCol="0" anchor="ctr"/>
          <a:lstStyle/>
          <a:p>
            <a:pPr indent="0" marL="0">
              <a:buNone/>
            </a:pPr>
            <a:r>
              <a:rPr lang="en-US" sz="1800" b="1" dirty="0">
                <a:solidFill>
                  <a:srgbClr val="FFFFFF"/>
                </a:solidFill>
              </a:rPr>
              <a:t>Decision tree</a:t>
            </a:r>
            <a:endParaRPr lang="en-US" sz="1800" dirty="0"/>
          </a:p>
          <a:p>
            <a:pPr indent="0" marL="0">
              <a:buNone/>
            </a:pPr>
            <a:r>
              <a:rPr lang="en-US" sz="1400" dirty="0">
                <a:solidFill>
                  <a:srgbClr val="A9CFCB"/>
                </a:solidFill>
              </a:rPr>
              <a:t>Use to explain, not to predict</a:t>
            </a:r>
            <a:endParaRPr lang="en-US" sz="1800" dirty="0"/>
          </a:p>
        </p:txBody>
      </p:sp>
      <p:sp>
        <p:nvSpPr>
          <p:cNvPr id="19" name="Text 14"/>
          <p:cNvSpPr txBox="1"/>
          <p:nvPr/>
        </p:nvSpPr>
        <p:spPr>
          <a:xfrm>
            <a:off x="8412480" y="2697480"/>
            <a:ext cx="2953512" cy="1005840"/>
          </a:xfrm>
          <a:prstGeom prst="rect">
            <a:avLst/>
          </a:prstGeom>
          <a:noFill/>
          <a:ln/>
        </p:spPr>
        <p:txBody>
          <a:bodyPr wrap="square" lIns="0" tIns="0" rIns="0" bIns="0" rtlCol="0" anchor="t"/>
          <a:lstStyle/>
          <a:p>
            <a:pPr indent="0" marL="0">
              <a:buNone/>
            </a:pPr>
            <a:r>
              <a:rPr lang="en-US" sz="1400" dirty="0">
                <a:solidFill>
                  <a:schemeClr val="bg1"/>
                </a:solidFill>
              </a:rPr>
              <a:t>Last in all four settings, but its thresholds are easy to show to teachers.</a:t>
            </a:r>
            <a:endParaRPr lang="en-US" sz="1400" dirty="0"/>
          </a:p>
        </p:txBody>
      </p:sp>
      <p:sp>
        <p:nvSpPr>
          <p:cNvPr id="20" name="Text 15"/>
          <p:cNvSpPr txBox="1"/>
          <p:nvPr/>
        </p:nvSpPr>
        <p:spPr>
          <a:xfrm>
            <a:off x="548640" y="3931920"/>
            <a:ext cx="5394960" cy="1371600"/>
          </a:xfrm>
          <a:prstGeom prst="rect">
            <a:avLst/>
          </a:prstGeom>
          <a:noFill/>
          <a:ln/>
        </p:spPr>
        <p:txBody>
          <a:bodyPr wrap="square" lIns="0" tIns="0" rIns="0" bIns="0" rtlCol="0" anchor="t"/>
          <a:lstStyle/>
          <a:p>
            <a:pPr indent="0" marL="0">
              <a:buNone/>
            </a:pPr>
            <a:r>
              <a:rPr lang="en-US" sz="1400" b="1" dirty="0">
                <a:solidFill>
                  <a:srgbClr val="A9CFCB"/>
                </a:solidFill>
              </a:rPr>
              <a:t>Limits</a:t>
            </a:r>
            <a:endParaRPr lang="en-US" sz="1400" dirty="0"/>
          </a:p>
          <a:p>
            <a:pPr indent="0" marL="0">
              <a:buNone/>
            </a:pPr>
            <a:r>
              <a:rPr lang="en-US" sz="1400" dirty="0">
                <a:solidFill>
                  <a:srgbClr val="FFFFFF"/>
                </a:solidFill>
              </a:rPr>
              <a:t>One 80/20 split per dataset (79 or 200 test students). One synthetic and one undocumented Kaggle dataset. Results are associations, not causes.</a:t>
            </a:r>
            <a:endParaRPr lang="en-US" sz="1400" dirty="0"/>
          </a:p>
        </p:txBody>
      </p:sp>
      <p:sp>
        <p:nvSpPr>
          <p:cNvPr id="21" name="Text 16"/>
          <p:cNvSpPr txBox="1"/>
          <p:nvPr/>
        </p:nvSpPr>
        <p:spPr>
          <a:xfrm>
            <a:off x="6245352" y="3931920"/>
            <a:ext cx="5394960" cy="1371600"/>
          </a:xfrm>
          <a:prstGeom prst="rect">
            <a:avLst/>
          </a:prstGeom>
          <a:noFill/>
          <a:ln/>
        </p:spPr>
        <p:txBody>
          <a:bodyPr wrap="square" lIns="0" tIns="0" rIns="0" bIns="0" rtlCol="0" anchor="t"/>
          <a:lstStyle/>
          <a:p>
            <a:pPr indent="0" marL="0">
              <a:buNone/>
            </a:pPr>
            <a:r>
              <a:rPr lang="en-US" sz="1400" b="1" dirty="0">
                <a:solidFill>
                  <a:srgbClr val="A9CFCB"/>
                </a:solidFill>
              </a:rPr>
              <a:t>Next step</a:t>
            </a:r>
            <a:endParaRPr lang="en-US" sz="1400" dirty="0"/>
          </a:p>
          <a:p>
            <a:pPr indent="0" marL="0">
              <a:buNone/>
            </a:pPr>
            <a:r>
              <a:rPr lang="en-US" sz="1400" dirty="0">
                <a:solidFill>
                  <a:srgbClr val="FFFFFF"/>
                </a:solidFill>
              </a:rPr>
              <a:t>Run the same protocol on one institutional dataset that holds prior grades, behaviour and demographics for the same students.</a:t>
            </a:r>
            <a:endParaRPr lang="en-US" sz="1400" dirty="0"/>
          </a:p>
        </p:txBody>
      </p:sp>
      <p:sp>
        <p:nvSpPr>
          <p:cNvPr id="22" name="Text 17"/>
          <p:cNvSpPr txBox="1"/>
          <p:nvPr/>
        </p:nvSpPr>
        <p:spPr>
          <a:xfrm>
            <a:off x="548640" y="5669280"/>
            <a:ext cx="11094415" cy="54864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Thank you</a:t>
            </a:r>
            <a:endParaRPr lang="en-US"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48640"/>
          </a:xfrm>
          <a:prstGeom prst="rect">
            <a:avLst/>
          </a:prstGeom>
          <a:noFill/>
          <a:ln/>
        </p:spPr>
        <p:txBody>
          <a:bodyPr wrap="square" lIns="0" tIns="0" rIns="0" bIns="0" rtlCol="0" anchor="t"/>
          <a:lstStyle/>
          <a:p>
            <a:pPr algn="l" indent="0" marL="0">
              <a:buNone/>
            </a:pPr>
            <a:r>
              <a:rPr lang="en-US" sz="2600" b="1" dirty="0">
                <a:solidFill>
                  <a:schemeClr val="tx2"/>
                </a:solidFill>
              </a:rPr>
              <a:t>Appendix A: Ngoc An, full results</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0469880" cy="914400"/>
        </p:xfrm>
        <a:graphic>
          <a:graphicData uri="http://schemas.openxmlformats.org/drawingml/2006/table">
            <a:tbl>
              <a:tblPr/>
              <a:tblGrid>
                <a:gridCol w="2194560"/>
                <a:gridCol w="1920240"/>
                <a:gridCol w="1600200"/>
                <a:gridCol w="1188720"/>
                <a:gridCol w="1188720"/>
                <a:gridCol w="1188720"/>
                <a:gridCol w="1188720"/>
              </a:tblGrid>
              <a:tr h="301752">
                <a:tc>
                  <a:txBody>
                    <a:bodyPr/>
                    <a:lstStyle/>
                    <a:p>
                      <a:pPr algn="ctr" indent="0" marL="0">
                        <a:buNone/>
                      </a:pPr>
                      <a:r>
                        <a:rPr lang="en-US" sz="1200" b="1" dirty="0">
                          <a:solidFill>
                            <a:srgbClr val="FFFFFF"/>
                          </a:solidFill>
                        </a:rPr>
                        <a:t>Scenario</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Model</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CV R² mean ± SD</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Test R²</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MAE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RMSE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RMSE / SD</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r>
              <a:tr h="301752">
                <a:tc>
                  <a:txBody>
                    <a:bodyPr/>
                    <a:lstStyle/>
                    <a:p>
                      <a:pPr algn="l" indent="0" marL="0">
                        <a:buNone/>
                      </a:pPr>
                      <a:r>
                        <a:rPr lang="en-US" sz="1200" dirty="0">
                          <a:solidFill>
                            <a:srgbClr val="1F2A30"/>
                          </a:solidFill>
                        </a:rPr>
                        <a:t>A: with G1, G2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Linear regression</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0.804 ± 0.035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0.724</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1.647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2.378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0.522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A: with G1, G2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Decision tree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0.852 ± 0.059</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0.704</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1.413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2.462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0.540</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A: with G1, G2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l" indent="0" marL="0">
                        <a:buNone/>
                      </a:pPr>
                      <a:r>
                        <a:rPr lang="en-US" sz="1200" dirty="0">
                          <a:solidFill>
                            <a:srgbClr val="1F2A30"/>
                          </a:solidFill>
                        </a:rPr>
                        <a:t>Random forest</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0.883 ± 0.036</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0.829</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1.135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1.873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0.411</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r>
              <a:tr h="301752">
                <a:tc>
                  <a:txBody>
                    <a:bodyPr/>
                    <a:lstStyle/>
                    <a:p>
                      <a:pPr algn="l" indent="0" marL="0">
                        <a:buNone/>
                      </a:pPr>
                      <a:r>
                        <a:rPr lang="en-US" sz="1200" dirty="0">
                          <a:solidFill>
                            <a:srgbClr val="1F2A30"/>
                          </a:solidFill>
                        </a:rPr>
                        <a:t>B: without G1, G2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Linear regression</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−0.092 ± 0.250</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0.141</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3.395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4.196</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0.921</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B: without G1, G2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Decision tree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0.128 ± 0.207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0.058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3.541</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4.394</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0.964</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B: without G1, G2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l" indent="0" marL="0">
                        <a:buNone/>
                      </a:pPr>
                      <a:r>
                        <a:rPr lang="en-US" sz="1200" dirty="0">
                          <a:solidFill>
                            <a:srgbClr val="1F2A30"/>
                          </a:solidFill>
                        </a:rPr>
                        <a:t>Random forest</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0.232 ± 0.097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0.242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3.188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3.943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0.865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r>
            </a:tbl>
          </a:graphicData>
        </a:graphic>
      </p:graphicFrame>
      <p:pic>
        <p:nvPicPr>
          <p:cNvPr id="4" name="Image 0" descr="/tmp/claude-0/-home-claude/0ad7d555-01c3-5799-9a85-89e9f3e9c847/scratchpad/deck/img/an_importance.png">    </p:cNvPr>
          <p:cNvPicPr>
            <a:picLocks noChangeAspect="1"/>
          </p:cNvPicPr>
          <p:nvPr/>
        </p:nvPicPr>
        <p:blipFill>
          <a:blip r:embed="rId1"/>
          <a:stretch>
            <a:fillRect/>
          </a:stretch>
        </p:blipFill>
        <p:spPr>
          <a:xfrm>
            <a:off x="2255368" y="3520440"/>
            <a:ext cx="7680960" cy="2749151"/>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48640"/>
          </a:xfrm>
          <a:prstGeom prst="rect">
            <a:avLst/>
          </a:prstGeom>
          <a:noFill/>
          <a:ln/>
        </p:spPr>
        <p:txBody>
          <a:bodyPr wrap="square" lIns="0" tIns="0" rIns="0" bIns="0" rtlCol="0" anchor="t"/>
          <a:lstStyle/>
          <a:p>
            <a:pPr algn="l" indent="0" marL="0">
              <a:buNone/>
            </a:pPr>
            <a:r>
              <a:rPr lang="en-US" sz="2600" b="1" dirty="0">
                <a:solidFill>
                  <a:schemeClr val="tx2"/>
                </a:solidFill>
              </a:rPr>
              <a:t>Appendix B: Quang Trung, full results</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0469880" cy="914400"/>
        </p:xfrm>
        <a:graphic>
          <a:graphicData uri="http://schemas.openxmlformats.org/drawingml/2006/table">
            <a:tbl>
              <a:tblPr/>
              <a:tblGrid>
                <a:gridCol w="2194560"/>
                <a:gridCol w="1920240"/>
                <a:gridCol w="1600200"/>
                <a:gridCol w="1188720"/>
                <a:gridCol w="1188720"/>
                <a:gridCol w="1188720"/>
                <a:gridCol w="1188720"/>
              </a:tblGrid>
              <a:tr h="301752">
                <a:tc>
                  <a:txBody>
                    <a:bodyPr/>
                    <a:lstStyle/>
                    <a:p>
                      <a:pPr algn="ctr" indent="0" marL="0">
                        <a:buNone/>
                      </a:pPr>
                      <a:r>
                        <a:rPr lang="en-US" sz="1200" b="1" dirty="0">
                          <a:solidFill>
                            <a:srgbClr val="FFFFFF"/>
                          </a:solidFill>
                        </a:rPr>
                        <a:t>Scenario</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Model</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CV R² mean ± SD</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Test R²</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MAE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RMSE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RMSE / SD</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r>
              <a:tr h="301752">
                <a:tc>
                  <a:txBody>
                    <a:bodyPr/>
                    <a:lstStyle/>
                    <a:p>
                      <a:pPr algn="l" indent="0" marL="0">
                        <a:buNone/>
                      </a:pPr>
                      <a:r>
                        <a:rPr lang="en-US" sz="1200" dirty="0">
                          <a:solidFill>
                            <a:srgbClr val="1F2A30"/>
                          </a:solidFill>
                        </a:rPr>
                        <a:t>A: behaviour only</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l" indent="0" marL="0">
                        <a:buNone/>
                      </a:pPr>
                      <a:r>
                        <a:rPr lang="en-US" sz="1200" dirty="0">
                          <a:solidFill>
                            <a:srgbClr val="1F2A30"/>
                          </a:solidFill>
                        </a:rPr>
                        <a:t>Linear regression</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0.480 ± 0.032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0.386</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6.58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8.13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0.786</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r>
              <a:tr h="301752">
                <a:tc>
                  <a:txBody>
                    <a:bodyPr/>
                    <a:lstStyle/>
                    <a:p>
                      <a:pPr algn="l" indent="0" marL="0">
                        <a:buNone/>
                      </a:pPr>
                      <a:r>
                        <a:rPr lang="en-US" sz="1200" dirty="0">
                          <a:solidFill>
                            <a:srgbClr val="1F2A30"/>
                          </a:solidFill>
                        </a:rPr>
                        <a:t>A: behaviour only</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Decision tree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0.328 ± 0.080</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0.269</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7.23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8.87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0.858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A: behaviour only</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Random forest</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0.443 ± 0.025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0.338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6.80</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8.44</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0.816</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B: + previous grade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l" indent="0" marL="0">
                        <a:buNone/>
                      </a:pPr>
                      <a:r>
                        <a:rPr lang="en-US" sz="1200" dirty="0">
                          <a:solidFill>
                            <a:srgbClr val="1F2A30"/>
                          </a:solidFill>
                        </a:rPr>
                        <a:t>Linear regression</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0.659 ± 0.047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0.619</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4.97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6.40</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0.619</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r>
              <a:tr h="301752">
                <a:tc>
                  <a:txBody>
                    <a:bodyPr/>
                    <a:lstStyle/>
                    <a:p>
                      <a:pPr algn="l" indent="0" marL="0">
                        <a:buNone/>
                      </a:pPr>
                      <a:r>
                        <a:rPr lang="en-US" sz="1200" dirty="0">
                          <a:solidFill>
                            <a:srgbClr val="1F2A30"/>
                          </a:solidFill>
                        </a:rPr>
                        <a:t>B: + previous grade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Decision tree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0.446 ± 0.065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0.492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5.75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7.39</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0.715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B: + previous grade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Random forest</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0.594 ± 0.055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0.585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5.24</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6.68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0.646</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bl>
          </a:graphicData>
        </a:graphic>
      </p:graphicFrame>
      <p:pic>
        <p:nvPicPr>
          <p:cNvPr id="4" name="Image 0" descr="/tmp/claude-0/-home-claude/0ad7d555-01c3-5799-9a85-89e9f3e9c847/scratchpad/deck/img/trung_importance.png">    </p:cNvPr>
          <p:cNvPicPr>
            <a:picLocks noChangeAspect="1"/>
          </p:cNvPicPr>
          <p:nvPr/>
        </p:nvPicPr>
        <p:blipFill>
          <a:blip r:embed="rId1"/>
          <a:stretch>
            <a:fillRect/>
          </a:stretch>
        </p:blipFill>
        <p:spPr>
          <a:xfrm>
            <a:off x="2621128" y="3520440"/>
            <a:ext cx="6949440" cy="2606040"/>
          </a:xfrm>
          <a:prstGeom prst="rect">
            <a:avLst/>
          </a:prstGeom>
        </p:spPr>
      </p:pic>
      <p:sp>
        <p:nvSpPr>
          <p:cNvPr id="5" name="Text 1"/>
          <p:cNvSpPr txBox="1"/>
          <p:nvPr/>
        </p:nvSpPr>
        <p:spPr>
          <a:xfrm>
            <a:off x="548640" y="6126480"/>
            <a:ext cx="11094415" cy="256032"/>
          </a:xfrm>
          <a:prstGeom prst="rect">
            <a:avLst/>
          </a:prstGeom>
          <a:noFill/>
          <a:ln/>
        </p:spPr>
        <p:txBody>
          <a:bodyPr wrap="square" lIns="0" tIns="0" rIns="0" bIns="0" rtlCol="0" anchor="ctr"/>
          <a:lstStyle/>
          <a:p>
            <a:pPr indent="0" marL="0">
              <a:buNone/>
            </a:pPr>
            <a:r>
              <a:rPr lang="en-US" sz="1100" i="1" dirty="0">
                <a:solidFill>
                  <a:schemeClr val="accent6"/>
                </a:solidFill>
              </a:rPr>
              <a:t>Tuned: tree depth 5 / leaf 10 (A), depth None / leaf 10 (B); forest 300 trees, depth 10, sqrt (A) and depth 10, 0.5 (B). Source: main.ipynb.</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48640"/>
          </a:xfrm>
          <a:prstGeom prst="rect">
            <a:avLst/>
          </a:prstGeom>
          <a:noFill/>
          <a:ln/>
        </p:spPr>
        <p:txBody>
          <a:bodyPr wrap="square" lIns="0" tIns="0" rIns="0" bIns="0" rtlCol="0" anchor="t"/>
          <a:lstStyle/>
          <a:p>
            <a:pPr algn="l" indent="0" marL="0">
              <a:buNone/>
            </a:pPr>
            <a:r>
              <a:rPr lang="en-US" sz="2600" b="1" dirty="0">
                <a:solidFill>
                  <a:schemeClr val="tx2"/>
                </a:solidFill>
              </a:rPr>
              <a:t>Appendix C: Akil, full results</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858000" cy="914400"/>
        </p:xfrm>
        <a:graphic>
          <a:graphicData uri="http://schemas.openxmlformats.org/drawingml/2006/table">
            <a:tbl>
              <a:tblPr/>
              <a:tblGrid>
                <a:gridCol w="1737360"/>
                <a:gridCol w="1600200"/>
                <a:gridCol w="914400"/>
                <a:gridCol w="822960"/>
                <a:gridCol w="822960"/>
                <a:gridCol w="960120"/>
              </a:tblGrid>
              <a:tr h="301752">
                <a:tc>
                  <a:txBody>
                    <a:bodyPr/>
                    <a:lstStyle/>
                    <a:p>
                      <a:pPr algn="ctr" indent="0" marL="0">
                        <a:buNone/>
                      </a:pPr>
                      <a:r>
                        <a:rPr lang="en-US" sz="1200" b="1" dirty="0">
                          <a:solidFill>
                            <a:srgbClr val="FFFFFF"/>
                          </a:solidFill>
                        </a:rPr>
                        <a:t>Model</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CV R² mean ± SD</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Test R²</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MAE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RMSE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c>
                  <a:txBody>
                    <a:bodyPr/>
                    <a:lstStyle/>
                    <a:p>
                      <a:pPr algn="ctr" indent="0" marL="0">
                        <a:buNone/>
                      </a:pPr>
                      <a:r>
                        <a:rPr lang="en-US" sz="1200" b="1" dirty="0">
                          <a:solidFill>
                            <a:srgbClr val="FFFFFF"/>
                          </a:solidFill>
                        </a:rPr>
                        <a:t>RMSE / SD</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12343B"/>
                    </a:solidFill>
                  </a:tcPr>
                </a:tc>
              </a:tr>
              <a:tr h="301752">
                <a:tc>
                  <a:txBody>
                    <a:bodyPr/>
                    <a:lstStyle/>
                    <a:p>
                      <a:pPr algn="l" indent="0" marL="0">
                        <a:buNone/>
                      </a:pPr>
                      <a:r>
                        <a:rPr lang="en-US" sz="1200" dirty="0">
                          <a:solidFill>
                            <a:srgbClr val="1F2A30"/>
                          </a:solidFill>
                        </a:rPr>
                        <a:t>Linear regression</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l" indent="0" marL="0">
                        <a:buNone/>
                      </a:pPr>
                      <a:r>
                        <a:rPr lang="en-US" sz="1200" dirty="0">
                          <a:solidFill>
                            <a:srgbClr val="1F2A30"/>
                          </a:solidFill>
                        </a:rPr>
                        <a:t>0.228 ± 0.037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0.162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10.49</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13.40</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c>
                  <a:txBody>
                    <a:bodyPr/>
                    <a:lstStyle/>
                    <a:p>
                      <a:pPr algn="ctr" indent="0" marL="0">
                        <a:buNone/>
                      </a:pPr>
                      <a:r>
                        <a:rPr lang="en-US" sz="1200" dirty="0">
                          <a:solidFill>
                            <a:srgbClr val="1F2A30"/>
                          </a:solidFill>
                        </a:rPr>
                        <a:t>0.913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EEF3F2"/>
                    </a:solidFill>
                  </a:tcPr>
                </a:tc>
              </a:tr>
              <a:tr h="301752">
                <a:tc>
                  <a:txBody>
                    <a:bodyPr/>
                    <a:lstStyle/>
                    <a:p>
                      <a:pPr algn="l" indent="0" marL="0">
                        <a:buNone/>
                      </a:pPr>
                      <a:r>
                        <a:rPr lang="en-US" sz="1200" dirty="0">
                          <a:solidFill>
                            <a:srgbClr val="1F2A30"/>
                          </a:solidFill>
                        </a:rPr>
                        <a:t>Decision tree</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0.157 ± 0.060</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0.068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10.97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14.14</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0.963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F2A30"/>
                          </a:solidFill>
                        </a:rPr>
                        <a:t>Random forest</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0"/>
                          </a:solidFill>
                        </a:rPr>
                        <a:t>0.194 ± 0.033</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0.118</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10.72</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13.75</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30"/>
                          </a:solidFill>
                        </a:rPr>
                        <a:t>0.937</a:t>
                      </a:r>
                      <a:endParaRPr lang="en-US" sz="1200" dirty="0"/>
                    </a:p>
                  </a:txBody>
                  <a:tcPr marL="91440" marR="91440" marT="27432" marB="27432">
                    <a:lnL w="6350" cap="flat" cmpd="sng" algn="ctr">
                      <a:solidFill>
                        <a:srgbClr val="D5DEDD"/>
                      </a:solidFill>
                      <a:prstDash val="solid"/>
                      <a:round/>
                      <a:headEnd type="none" w="med" len="med"/>
                      <a:tailEnd type="none" w="med" len="med"/>
                    </a:lnL>
                    <a:lnR w="6350" cap="flat" cmpd="sng" algn="ctr">
                      <a:solidFill>
                        <a:srgbClr val="D5DEDD"/>
                      </a:solidFill>
                      <a:prstDash val="solid"/>
                      <a:round/>
                      <a:headEnd type="none" w="med" len="med"/>
                      <a:tailEnd type="none" w="med" len="med"/>
                    </a:lnR>
                    <a:lnT w="6350" cap="flat" cmpd="sng" algn="ctr">
                      <a:solidFill>
                        <a:srgbClr val="D5DEDD"/>
                      </a:solidFill>
                      <a:prstDash val="solid"/>
                      <a:round/>
                      <a:headEnd type="none" w="med" len="med"/>
                      <a:tailEnd type="none" w="med" len="med"/>
                    </a:lnT>
                    <a:lnB w="6350" cap="flat" cmpd="sng" algn="ctr">
                      <a:solidFill>
                        <a:srgbClr val="D5DEDD"/>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697480"/>
            <a:ext cx="5486400" cy="329184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Tuned hyperparameters</a:t>
            </a:r>
            <a:endParaRPr lang="en-US" sz="1400" dirty="0"/>
          </a:p>
          <a:p>
            <a:pPr marL="342900" indent="-342900">
              <a:spcAft>
                <a:spcPts val="600"/>
              </a:spcAft>
              <a:buSzPct val="100000"/>
              <a:buChar char="•"/>
            </a:pPr>
            <a:r>
              <a:rPr lang="en-US" sz="1400" dirty="0">
                <a:solidFill>
                  <a:schemeClr val="tx1"/>
                </a:solidFill>
              </a:rPr>
              <a:t>Decision tree: max_depth 3, min_samples_leaf 10</a:t>
            </a:r>
            <a:endParaRPr lang="en-US" sz="1400" dirty="0"/>
          </a:p>
          <a:p>
            <a:pPr marL="342900" indent="-342900">
              <a:spcAft>
                <a:spcPts val="600"/>
              </a:spcAft>
              <a:buSzPct val="100000"/>
              <a:buChar char="•"/>
            </a:pPr>
            <a:r>
              <a:rPr lang="en-US" sz="1400" dirty="0">
                <a:solidFill>
                  <a:schemeClr val="tx1"/>
                </a:solidFill>
              </a:rPr>
              <a:t>Random forest: 300 trees, max_depth 5, max_features sqrt</a:t>
            </a:r>
            <a:endParaRPr lang="en-US" sz="1400" dirty="0"/>
          </a:p>
          <a:p>
            <a:pPr indent="0" marL="0">
              <a:spcAft>
                <a:spcPts val="600"/>
              </a:spcAft>
              <a:buNone/>
            </a:pPr>
            <a:r>
              <a:rPr lang="en-US" sz="1400" b="1" dirty="0">
                <a:solidFill>
                  <a:schemeClr val="tx2"/>
                </a:solidFill>
              </a:rPr>
              <a:t>Linear regression effects</a:t>
            </a:r>
            <a:endParaRPr lang="en-US" sz="1400" dirty="0"/>
          </a:p>
          <a:p>
            <a:pPr marL="342900" indent="-342900">
              <a:spcAft>
                <a:spcPts val="600"/>
              </a:spcAft>
              <a:buSzPct val="100000"/>
              <a:buChar char="•"/>
            </a:pPr>
            <a:r>
              <a:rPr lang="en-US" sz="1400" dirty="0">
                <a:solidFill>
                  <a:schemeClr val="tx1"/>
                </a:solidFill>
              </a:rPr>
              <a:t>Standard lunch +4.6 points vs free or reduced</a:t>
            </a:r>
            <a:endParaRPr lang="en-US" sz="1400" dirty="0"/>
          </a:p>
          <a:p>
            <a:pPr marL="342900" indent="-342900">
              <a:spcAft>
                <a:spcPts val="600"/>
              </a:spcAft>
              <a:buSzPct val="100000"/>
              <a:buChar char="•"/>
            </a:pPr>
            <a:r>
              <a:rPr lang="en-US" sz="1400" dirty="0">
                <a:solidFill>
                  <a:schemeClr val="tx1"/>
                </a:solidFill>
              </a:rPr>
              <a:t>Completed test preparation +3.9 points</a:t>
            </a:r>
            <a:endParaRPr lang="en-US" sz="1400" dirty="0"/>
          </a:p>
          <a:p>
            <a:pPr marL="342900" indent="-342900">
              <a:spcAft>
                <a:spcPts val="600"/>
              </a:spcAft>
              <a:buSzPct val="100000"/>
              <a:buChar char="•"/>
            </a:pPr>
            <a:r>
              <a:rPr lang="en-US" sz="1400" dirty="0">
                <a:solidFill>
                  <a:schemeClr val="tx1"/>
                </a:solidFill>
              </a:rPr>
              <a:t>Parental education: −4.1 (high school) to +4.1 (bachelor's)</a:t>
            </a:r>
            <a:endParaRPr lang="en-US" sz="1400" dirty="0"/>
          </a:p>
        </p:txBody>
      </p:sp>
      <p:pic>
        <p:nvPicPr>
          <p:cNvPr id="5" name="Image 0" descr="/tmp/claude-0/-home-claude/0ad7d555-01c3-5799-9a85-89e9f3e9c847/scratchpad/deck/img/akil_importance.png">    </p:cNvPr>
          <p:cNvPicPr>
            <a:picLocks noChangeAspect="1"/>
          </p:cNvPicPr>
          <p:nvPr/>
        </p:nvPicPr>
        <p:blipFill>
          <a:blip r:embed="rId1"/>
          <a:stretch>
            <a:fillRect/>
          </a:stretch>
        </p:blipFill>
        <p:spPr>
          <a:xfrm>
            <a:off x="6309360" y="2606040"/>
            <a:ext cx="5330952" cy="3064934"/>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48640"/>
          </a:xfrm>
          <a:prstGeom prst="rect">
            <a:avLst/>
          </a:prstGeom>
          <a:noFill/>
          <a:ln/>
        </p:spPr>
        <p:txBody>
          <a:bodyPr wrap="square" lIns="0" tIns="0" rIns="0" bIns="0" rtlCol="0" anchor="t"/>
          <a:lstStyle/>
          <a:p>
            <a:pPr algn="l" indent="0" marL="0">
              <a:buNone/>
            </a:pPr>
            <a:r>
              <a:rPr lang="en-US" sz="2600" b="1" dirty="0">
                <a:solidFill>
                  <a:schemeClr val="tx2"/>
                </a:solidFill>
              </a:rPr>
              <a:t>References</a:t>
            </a:r>
            <a:endParaRPr lang="en-US" sz="2600" dirty="0"/>
          </a:p>
        </p:txBody>
      </p:sp>
      <p:sp>
        <p:nvSpPr>
          <p:cNvPr id="3" name="Text 1"/>
          <p:cNvSpPr txBox="1"/>
          <p:nvPr/>
        </p:nvSpPr>
        <p:spPr>
          <a:xfrm>
            <a:off x="548640" y="1188720"/>
            <a:ext cx="11094415" cy="5029200"/>
          </a:xfrm>
          <a:prstGeom prst="rect">
            <a:avLst/>
          </a:prstGeom>
          <a:noFill/>
          <a:ln/>
        </p:spPr>
        <p:txBody>
          <a:bodyPr wrap="square" lIns="0" tIns="0" rIns="0" bIns="0" rtlCol="0" anchor="t"/>
          <a:lstStyle/>
          <a:p>
            <a:pPr indent="0" marL="0">
              <a:spcAft>
                <a:spcPts val="900"/>
              </a:spcAft>
              <a:buNone/>
            </a:pPr>
            <a:r>
              <a:rPr lang="en-US" sz="1300" dirty="0">
                <a:solidFill>
                  <a:schemeClr val="tx1"/>
                </a:solidFill>
              </a:rPr>
              <a:t>Batool, S., et al. (2023). Educational data mining to predict students' academic performance: A survey study. Education and Information Technologies, 28(1), 905–971.</a:t>
            </a:r>
            <a:endParaRPr lang="en-US" sz="1300" dirty="0"/>
          </a:p>
          <a:p>
            <a:pPr indent="0" marL="0">
              <a:spcAft>
                <a:spcPts val="900"/>
              </a:spcAft>
              <a:buNone/>
            </a:pPr>
            <a:r>
              <a:rPr lang="en-US" sz="1300" dirty="0">
                <a:solidFill>
                  <a:schemeClr val="tx1"/>
                </a:solidFill>
              </a:rPr>
              <a:t>Breiman, L. (2001). Random forests. Machine Learning, 45(1), 5–32.</a:t>
            </a:r>
            <a:endParaRPr lang="en-US" sz="1300" dirty="0"/>
          </a:p>
          <a:p>
            <a:pPr indent="0" marL="0">
              <a:spcAft>
                <a:spcPts val="900"/>
              </a:spcAft>
              <a:buNone/>
            </a:pPr>
            <a:r>
              <a:rPr lang="en-US" sz="1300" dirty="0">
                <a:solidFill>
                  <a:schemeClr val="tx1"/>
                </a:solidFill>
              </a:rPr>
              <a:t>Breiman, L., Friedman, J. H., Olshen, R. A., &amp; Stone, C. J. (1984). Classification and regression trees. Wadsworth.</a:t>
            </a:r>
            <a:endParaRPr lang="en-US" sz="1300" dirty="0"/>
          </a:p>
          <a:p>
            <a:pPr indent="0" marL="0">
              <a:spcAft>
                <a:spcPts val="900"/>
              </a:spcAft>
              <a:buNone/>
            </a:pPr>
            <a:r>
              <a:rPr lang="en-US" sz="1300" dirty="0">
                <a:solidFill>
                  <a:schemeClr val="tx1"/>
                </a:solidFill>
              </a:rPr>
              <a:t>Cortez, P., &amp; Silva, A. M. G. (2008). Using data mining to predict secondary school student performance. EUROSIS-ETI.</a:t>
            </a:r>
            <a:endParaRPr lang="en-US" sz="1300" dirty="0"/>
          </a:p>
          <a:p>
            <a:pPr indent="0" marL="0">
              <a:spcAft>
                <a:spcPts val="900"/>
              </a:spcAft>
              <a:buNone/>
            </a:pPr>
            <a:r>
              <a:rPr lang="en-US" sz="1300" dirty="0">
                <a:solidFill>
                  <a:schemeClr val="tx1"/>
                </a:solidFill>
              </a:rPr>
              <a:t>El Jihaoui, M., Abra, O. E. K., &amp; Mansouri, K. (2025). Factors affecting student academic performance. IEEE Access, 13, 13197–13214.</a:t>
            </a:r>
            <a:endParaRPr lang="en-US" sz="1300" dirty="0"/>
          </a:p>
          <a:p>
            <a:pPr indent="0" marL="0">
              <a:spcAft>
                <a:spcPts val="900"/>
              </a:spcAft>
              <a:buNone/>
            </a:pPr>
            <a:r>
              <a:rPr lang="en-US" sz="1300" dirty="0">
                <a:solidFill>
                  <a:schemeClr val="tx1"/>
                </a:solidFill>
              </a:rPr>
              <a:t>Falát, L., &amp; Piscová, T. (2022). Predicting GPA of university students with supervised regression machine learning models. Applied Sciences, 12(17), 8403.</a:t>
            </a:r>
            <a:endParaRPr lang="en-US" sz="1300" dirty="0"/>
          </a:p>
          <a:p>
            <a:pPr indent="0" marL="0">
              <a:spcAft>
                <a:spcPts val="900"/>
              </a:spcAft>
              <a:buNone/>
            </a:pPr>
            <a:r>
              <a:rPr lang="en-US" sz="1300" dirty="0">
                <a:solidFill>
                  <a:schemeClr val="tx1"/>
                </a:solidFill>
              </a:rPr>
              <a:t>Kohavi, R. (1995). A study of cross-validation and bootstrap for accuracy estimation and model selection. IJCAI, 1137–1143.</a:t>
            </a:r>
            <a:endParaRPr lang="en-US" sz="1300" dirty="0"/>
          </a:p>
          <a:p>
            <a:pPr indent="0" marL="0">
              <a:spcAft>
                <a:spcPts val="900"/>
              </a:spcAft>
              <a:buNone/>
            </a:pPr>
            <a:r>
              <a:rPr lang="en-US" sz="1300" dirty="0">
                <a:solidFill>
                  <a:schemeClr val="tx1"/>
                </a:solidFill>
              </a:rPr>
              <a:t>Namoun, A., &amp; Alshanqiti, A. (2021). Predicting student performance using data mining and learning analytics techniques. Applied Sciences, 11(1), 237.</a:t>
            </a:r>
            <a:endParaRPr lang="en-US" sz="1300" dirty="0"/>
          </a:p>
          <a:p>
            <a:pPr indent="0" marL="0">
              <a:spcAft>
                <a:spcPts val="900"/>
              </a:spcAft>
              <a:buNone/>
            </a:pPr>
            <a:r>
              <a:rPr lang="en-US" sz="1300" dirty="0">
                <a:solidFill>
                  <a:schemeClr val="tx1"/>
                </a:solidFill>
              </a:rPr>
              <a:t>Pedregosa, F., et al. (2011). Scikit-learn: Machine learning in Python. JMLR, 12, 2825–2830.</a:t>
            </a:r>
            <a:endParaRPr lang="en-US" sz="1300" dirty="0"/>
          </a:p>
          <a:p>
            <a:pPr indent="0" marL="0">
              <a:spcAft>
                <a:spcPts val="900"/>
              </a:spcAft>
              <a:buNone/>
            </a:pPr>
            <a:r>
              <a:rPr lang="en-US" sz="1300" dirty="0">
                <a:solidFill>
                  <a:schemeClr val="tx1"/>
                </a:solidFill>
              </a:rPr>
              <a:t>Sonkhanani, M., Chibaya, S., &amp; Nyirenda, C. N. (2026). Machine learning grade prediction using students' grades and demographics [Preprint]. arXiv:2603.00608.</a:t>
            </a:r>
            <a:endParaRPr lang="en-US" sz="1300" dirty="0"/>
          </a:p>
          <a:p>
            <a:pPr indent="0" marL="0">
              <a:spcAft>
                <a:spcPts val="900"/>
              </a:spcAft>
              <a:buNone/>
            </a:pPr>
            <a:r>
              <a:rPr lang="en-US" sz="1300" dirty="0">
                <a:solidFill>
                  <a:schemeClr val="tx1"/>
                </a:solidFill>
              </a:rPr>
              <a:t>Yağcı, M. (2022). Educational data mining: Prediction of students' academic performance using machine learning algorithms. Smart Learning Environments, 9, 11.</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Group 8 Teal">
  <a:themeElements>
    <a:clrScheme name="Group 8 Teal">
      <a:dk1>
        <a:srgbClr val="1F2A30"/>
      </a:dk1>
      <a:lt1>
        <a:srgbClr val="FFFFFF"/>
      </a:lt1>
      <a:dk2>
        <a:srgbClr val="12343B"/>
      </a:dk2>
      <a:lt2>
        <a:srgbClr val="EEF3F2"/>
      </a:lt2>
      <a:accent1>
        <a:srgbClr val="1B7F79"/>
      </a:accent1>
      <a:accent2>
        <a:srgbClr val="E09F3E"/>
      </a:accent2>
      <a:accent3>
        <a:srgbClr val="4F4C9A"/>
      </a:accent3>
      <a:accent4>
        <a:srgbClr val="D1495B"/>
      </a:accent4>
      <a:accent5>
        <a:srgbClr val="7A9E9F"/>
      </a:accent5>
      <a:accent6>
        <a:srgbClr val="5D6D73"/>
      </a:accent6>
      <a:hlink>
        <a:srgbClr val="1B7F79"/>
      </a:hlink>
      <a:folHlink>
        <a:srgbClr val="4F4C9A"/>
      </a:folHlink>
    </a:clrScheme>
    <a:fontScheme name="Group 8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 performance</dc:title>
  <dc:subject>PptxGenJS Presentation</dc:subject>
  <dc:creator>Group 8</dc:creator>
  <cp:lastModifiedBy>Group 8</cp:lastModifiedBy>
  <cp:revision>1</cp:revision>
  <dcterms:created xsi:type="dcterms:W3CDTF">2026-10-18T14:31:49Z</dcterms:created>
  <dcterms:modified xsi:type="dcterms:W3CDTF">2026-10-18T14:31:49Z</dcterms:modified>
</cp:coreProperties>
</file>